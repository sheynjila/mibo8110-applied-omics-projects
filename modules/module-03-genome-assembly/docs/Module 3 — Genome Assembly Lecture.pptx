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Emphasize up front that assembly quality is multi-dimensional — a genome can be perfectly contiguous (great N50) and still be wrong, contaminated, or incomplete. No single number in this module is allowed to stand alone as "the" quality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script has no analogue in any of the uploaded single-purpose scripts — it is a new, explicit decision point this module adds. Emphasize to students that picking the wrong assembler for the read type is a strategy error, not a tuning error, and no parameter fixes it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the read-length distribution for both worked-example datasets side by side (SRR1770413 at ~150bp vs. SRR39619343 at ~9,782bp average) — the order-of-magnitude difference makes the classification concrete rather than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against the real SRR1770413 E. coli K-12 short-read dataset in class if compute time allows — otherwise use the bundled smoke-test fixture, which reproduces the same qualitative graph structure (a repeat-induced branch point) at a fraction of the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documented memory-constraint callout (also in the RUNBOOK): Flye can exceed available RAM on repeat-rich genomes even when the genome itself is small — monitor memory during the run, not just at the end, and have students check `free -h` while a real run is in progress if compute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found and fixed a real bug here: the original branch-point counter treated a self-loop’s two edge-endpoints as two competing neighbors, which flagged every correctly-assembled circular genome as having a branch point. The fix de-duplicates by edge identity, not just by neighbor tuple — confirmed against Flye’s real single-contig, self-looped output, which now correctly reports 0 branch points and circular: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the exact before/after branch-point count on the Flye self-loop case — seeing a real, previously wrong number become correct is a more convincing demonstration than describing the bug in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compute N50 by hand on a tiny 4-contig toy example before running the script — walking the cumulative-length logic manually once demystifies what is otherwise a commonly cited but rarely understood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bugs were found and fixed in this exact script this session: (1) unweighted per-contig mean/median GC and depth statistics let four small contaminant fragments outvote the one large correct genome contig — fixed with explicit length-weighting helpers; (2) an unused `import statistics` left over from the unweighted version was removed once the fix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exact before/after numbers on the contaminant fragments — seeing the length-weighted median correctly flag all 4 small contigs while the unweighted version flagged the genome contig instead is the clearest possible demonstration of why weighting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analogue of Module 2’s DE_REPORT.md pattern: auto-fill everything a script can legitimately fill, and make the two sections that require a human judgment impossible to miss or silently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1371600"/>
            <a:ext cx="11091672" cy="365760"/>
          </a:xfrm>
          <a:prstGeom prst="rect">
            <a:avLst/>
          </a:prstGeom>
          <a:noFill/>
          <a:ln/>
        </p:spPr>
        <p:txBody>
          <a:bodyPr wrap="square" lIns="0" tIns="0" rIns="0" bIns="0" rtlCol="0" anchor="ctr"/>
          <a:lstStyle/>
          <a:p>
            <a:pPr indent="0" marL="0">
              <a:buNone/>
            </a:pPr>
            <a:r>
              <a:rPr lang="en-US" sz="1400" spc="200" kern="0" dirty="0">
                <a:solidFill>
                  <a:srgbClr val="4F98A3"/>
                </a:solidFill>
                <a:latin typeface="Calibri" pitchFamily="34" charset="0"/>
                <a:ea typeface="Calibri" pitchFamily="34" charset="-122"/>
                <a:cs typeface="Calibri" pitchFamily="34" charset="-120"/>
              </a:rPr>
              <a:t>MIBO8110  ·  MODULE 3: MICROBIAL GENOME ASSEMBLY</a:t>
            </a:r>
            <a:endParaRPr lang="en-US" sz="1400" dirty="0"/>
          </a:p>
        </p:txBody>
      </p:sp>
      <p:sp>
        <p:nvSpPr>
          <p:cNvPr id="3" name="Text 1"/>
          <p:cNvSpPr/>
          <p:nvPr/>
        </p:nvSpPr>
        <p:spPr>
          <a:xfrm>
            <a:off x="548640" y="1920240"/>
            <a:ext cx="11091672" cy="118872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From Reads to a Genome You Can Defend</a:t>
            </a:r>
            <a:endParaRPr lang="en-US" sz="3800" dirty="0"/>
          </a:p>
        </p:txBody>
      </p:sp>
      <p:sp>
        <p:nvSpPr>
          <p:cNvPr id="4" name="Text 2"/>
          <p:cNvSpPr/>
          <p:nvPr/>
        </p:nvSpPr>
        <p:spPr>
          <a:xfrm>
            <a:off x="548640" y="3063240"/>
            <a:ext cx="9692640" cy="1371600"/>
          </a:xfrm>
          <a:prstGeom prst="rect">
            <a:avLst/>
          </a:prstGeom>
          <a:noFill/>
          <a:ln/>
        </p:spPr>
        <p:txBody>
          <a:bodyPr wrap="square" lIns="0" tIns="0" rIns="0" bIns="0" rtlCol="0" anchor="ctr"/>
          <a:lstStyle/>
          <a:p>
            <a:pPr indent="0" marL="0">
              <a:lnSpc>
                <a:spcPct val="130000"/>
              </a:lnSpc>
              <a:buNone/>
            </a:pPr>
            <a:r>
              <a:rPr lang="en-US" sz="1550" dirty="0">
                <a:solidFill>
                  <a:srgbClr val="797876"/>
                </a:solidFill>
                <a:latin typeface="Calibri" pitchFamily="34" charset="0"/>
                <a:ea typeface="Calibri" pitchFamily="34" charset="-122"/>
                <a:cs typeface="Calibri" pitchFamily="34" charset="-120"/>
              </a:rPr>
              <a:t>Running an assembler and getting a FASTA file back is the easy part. This lecture covers the part that actually determines whether that FASTA file deserves to be called a genome: choosing the right assembly strategy for your read type, reading the assembly graph instead of trusting the flat contig list, computing the real contiguity statistics, screening for contamination and completeness with honest proxy checks, and reporting five distinct quality dimensions instead of one comforting one.</a:t>
            </a:r>
            <a:endParaRPr lang="en-US" sz="1550" dirty="0"/>
          </a:p>
        </p:txBody>
      </p:sp>
      <p:sp>
        <p:nvSpPr>
          <p:cNvPr id="5" name="Text 3"/>
          <p:cNvSpPr/>
          <p:nvPr/>
        </p:nvSpPr>
        <p:spPr>
          <a:xfrm>
            <a:off x="548640" y="5806440"/>
            <a:ext cx="11091672" cy="457200"/>
          </a:xfrm>
          <a:prstGeom prst="rect">
            <a:avLst/>
          </a:prstGeom>
          <a:noFill/>
          <a:ln/>
        </p:spPr>
        <p:txBody>
          <a:bodyPr wrap="square" lIns="0" tIns="0" rIns="0" bIns="0" rtlCol="0" anchor="ctr"/>
          <a:lstStyle/>
          <a:p>
            <a:pPr indent="0" marL="0">
              <a:buNone/>
            </a:pPr>
            <a:r>
              <a:rPr lang="en-US" sz="1200" dirty="0">
                <a:solidFill>
                  <a:srgbClr val="4F98A3"/>
                </a:solidFill>
                <a:latin typeface="Calibri" pitchFamily="34" charset="0"/>
                <a:ea typeface="Calibri" pitchFamily="34" charset="-122"/>
                <a:cs typeface="Calibri" pitchFamily="34" charset="-120"/>
              </a:rPr>
              <a:t>Match the tool to the data   ·   Read the graph   ·   N50 is not quality   ·   Weight by length, not by contig count   ·   Five dimensions, one report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lIns="0" tIns="0" rIns="0" bIns="0" rtlCol="0" anchor="ctr"/>
          <a:lstStyle/>
          <a:p>
            <a:pPr indent="0" marL="0">
              <a:buNone/>
            </a:pPr>
            <a:r>
              <a:rPr lang="en-US" sz="3200" b="1" dirty="0">
                <a:solidFill>
                  <a:srgbClr val="28251D"/>
                </a:solidFill>
                <a:latin typeface="Trebuchet MS" pitchFamily="34" charset="0"/>
                <a:ea typeface="Trebuchet MS" pitchFamily="34" charset="-122"/>
                <a:cs typeface="Trebuchet MS" pitchFamily="34" charset="-120"/>
              </a:rPr>
              <a:t>Agenda</a:t>
            </a:r>
            <a:endParaRPr lang="en-US" sz="3200" dirty="0"/>
          </a:p>
        </p:txBody>
      </p:sp>
      <p:sp>
        <p:nvSpPr>
          <p:cNvPr id="3" name="Text 1"/>
          <p:cNvSpPr/>
          <p:nvPr/>
        </p:nvSpPr>
        <p:spPr>
          <a:xfrm>
            <a:off x="54864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00</a:t>
            </a:r>
            <a:endParaRPr lang="en-US" sz="1800" dirty="0"/>
          </a:p>
        </p:txBody>
      </p:sp>
      <p:sp>
        <p:nvSpPr>
          <p:cNvPr id="4" name="Text 2"/>
          <p:cNvSpPr/>
          <p:nvPr/>
        </p:nvSpPr>
        <p:spPr>
          <a:xfrm>
            <a:off x="111556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Why This Module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A FASTA file is not the same thing as a genome</a:t>
            </a:r>
            <a:endParaRPr lang="en-US" sz="1400" dirty="0"/>
          </a:p>
        </p:txBody>
      </p:sp>
      <p:sp>
        <p:nvSpPr>
          <p:cNvPr id="5" name="Text 3"/>
          <p:cNvSpPr/>
          <p:nvPr/>
        </p:nvSpPr>
        <p:spPr>
          <a:xfrm>
            <a:off x="54864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01</a:t>
            </a:r>
            <a:endParaRPr lang="en-US" sz="1800" dirty="0"/>
          </a:p>
        </p:txBody>
      </p:sp>
      <p:sp>
        <p:nvSpPr>
          <p:cNvPr id="6" name="Text 4"/>
          <p:cNvSpPr/>
          <p:nvPr/>
        </p:nvSpPr>
        <p:spPr>
          <a:xfrm>
            <a:off x="111556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Choosing a Strategy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Short reads, long reads, or both change everything downstream</a:t>
            </a:r>
            <a:endParaRPr lang="en-US" sz="1400" dirty="0"/>
          </a:p>
        </p:txBody>
      </p:sp>
      <p:sp>
        <p:nvSpPr>
          <p:cNvPr id="7" name="Text 5"/>
          <p:cNvSpPr/>
          <p:nvPr/>
        </p:nvSpPr>
        <p:spPr>
          <a:xfrm>
            <a:off x="54864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02</a:t>
            </a:r>
            <a:endParaRPr lang="en-US" sz="1800" dirty="0"/>
          </a:p>
        </p:txBody>
      </p:sp>
      <p:sp>
        <p:nvSpPr>
          <p:cNvPr id="8" name="Text 6"/>
          <p:cNvSpPr/>
          <p:nvPr/>
        </p:nvSpPr>
        <p:spPr>
          <a:xfrm>
            <a:off x="111556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Running the Assemblers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SPAdes and Flye solve the same problem two different ways</a:t>
            </a:r>
            <a:endParaRPr lang="en-US" sz="1400" dirty="0"/>
          </a:p>
        </p:txBody>
      </p:sp>
      <p:sp>
        <p:nvSpPr>
          <p:cNvPr id="9" name="Text 7"/>
          <p:cNvSpPr/>
          <p:nvPr/>
        </p:nvSpPr>
        <p:spPr>
          <a:xfrm>
            <a:off x="548640" y="402336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03</a:t>
            </a:r>
            <a:endParaRPr lang="en-US" sz="1800" dirty="0"/>
          </a:p>
        </p:txBody>
      </p:sp>
      <p:sp>
        <p:nvSpPr>
          <p:cNvPr id="10" name="Text 8"/>
          <p:cNvSpPr/>
          <p:nvPr/>
        </p:nvSpPr>
        <p:spPr>
          <a:xfrm>
            <a:off x="1115568" y="402336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Reading the Graph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A branch point and a self-loop mean very different things</a:t>
            </a:r>
            <a:endParaRPr lang="en-US" sz="1400" dirty="0"/>
          </a:p>
        </p:txBody>
      </p:sp>
      <p:sp>
        <p:nvSpPr>
          <p:cNvPr id="11" name="Text 9"/>
          <p:cNvSpPr/>
          <p:nvPr/>
        </p:nvSpPr>
        <p:spPr>
          <a:xfrm>
            <a:off x="621792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04</a:t>
            </a:r>
            <a:endParaRPr lang="en-US" sz="1800" dirty="0"/>
          </a:p>
        </p:txBody>
      </p:sp>
      <p:sp>
        <p:nvSpPr>
          <p:cNvPr id="12" name="Text 10"/>
          <p:cNvSpPr/>
          <p:nvPr/>
        </p:nvSpPr>
        <p:spPr>
          <a:xfrm>
            <a:off x="678484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Contiguity Statistics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N50/L50 measure fragmentation, not correctness</a:t>
            </a:r>
            <a:endParaRPr lang="en-US" sz="1400" dirty="0"/>
          </a:p>
        </p:txBody>
      </p:sp>
      <p:sp>
        <p:nvSpPr>
          <p:cNvPr id="13" name="Text 11"/>
          <p:cNvSpPr/>
          <p:nvPr/>
        </p:nvSpPr>
        <p:spPr>
          <a:xfrm>
            <a:off x="621792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05</a:t>
            </a:r>
            <a:endParaRPr lang="en-US" sz="1800" dirty="0"/>
          </a:p>
        </p:txBody>
      </p:sp>
      <p:sp>
        <p:nvSpPr>
          <p:cNvPr id="14" name="Text 12"/>
          <p:cNvSpPr/>
          <p:nvPr/>
        </p:nvSpPr>
        <p:spPr>
          <a:xfrm>
            <a:off x="678484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Completeness &amp; Contamination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Length-weighted proxy checks, and the real tools we did not run</a:t>
            </a:r>
            <a:endParaRPr lang="en-US" sz="1400" dirty="0"/>
          </a:p>
        </p:txBody>
      </p:sp>
      <p:sp>
        <p:nvSpPr>
          <p:cNvPr id="15" name="Text 13"/>
          <p:cNvSpPr/>
          <p:nvPr/>
        </p:nvSpPr>
        <p:spPr>
          <a:xfrm>
            <a:off x="621792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06</a:t>
            </a:r>
            <a:endParaRPr lang="en-US" sz="1800" dirty="0"/>
          </a:p>
        </p:txBody>
      </p:sp>
      <p:sp>
        <p:nvSpPr>
          <p:cNvPr id="16" name="Text 14"/>
          <p:cNvSpPr/>
          <p:nvPr/>
        </p:nvSpPr>
        <p:spPr>
          <a:xfrm>
            <a:off x="678484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Five Numbers, One Report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Fitness for purpose is a judgment call the script cannot make</a:t>
            </a:r>
            <a:endParaRPr lang="en-US" sz="1400" dirty="0"/>
          </a:p>
        </p:txBody>
      </p:sp>
      <p:sp>
        <p:nvSpPr>
          <p:cNvPr id="17" name="Text 15"/>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WHY THIS MODULE</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A FASTA File Is Not the Same Thing as a Genome</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By the time an assembler finishes, you have a file full of sequences and a strong temptation to treat it as ground truth. What separates a defensible assembly from an untrustworthy one is almost entirely what happens after the assembler exits — in seven short scripts that never touch a sequencer.</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starting point: a portfolio of hardcoded, single-purpose scripts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uploaded pipeline scripts each ran one assembler against one hardcoded accession with no strategy justification, no graph inspection, and no statistics beyond whatever the assembler printed to its own log — useful for getting an answer once, not for teaching what the answer means.</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approach: seven scripts, seven separate judgment calls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Choose a strategy from read type (1), run the matching assembler (2), read the graph the assembler actually produced (3), compute real contiguity statistics (4), screen for completeness and contamination (5), and assemble everything into one report that separates fact from judgment (6-7) — each a real decision, not a formality.</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payoff: ASSEMBLY_REPORT.md is the portfolio artifact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curriculum asks for a report covering all five quality dimensions — contiguity, completeness, correctness, contamination, and fitness for purpose. Script 7 auto-fills every section a script can legitimately fill, and deliberately leaves interpretation and fitness-for-purpose blank for the analyst.</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01</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Choosing a Strategy</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Short reads, long reads, or both change everything downstream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Not Just Always Run the Same Assembler?</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Short-read (Illumina) and long-read (Nanopore/PacBio) data have different error profiles and different strengths: short reads are highly accurate but cannot span long repeats, while long reads span repeats easily but carry a much higher per-base error rate. An assembler built for one type performs badly, or fails outright, on the other — SPAdes is a short-read de Bruijn graph assembler; Flye is a long-read overlap-layout-consensus assembler for noisy reads. Choosing the assembler is not a preference, it is a correctness requirement.</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Inspect the read file(s): one file or a pair — and typical read length — to classify short-read vs. long-read</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Short reads (paired, ~100–300bp): recommend SPAdes</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Long reads (single file, reads often &gt;1,000bp): recommend Flye, with the correct --nano-raw / --pacbio-raw flag</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Both available: recommend a hybrid approach and name the trade-off explicitly rather than silently picking one</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Read length alone is not a perfect classifier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short-read library trimmed aggressively can shrink below its nominal length, and some long-read platforms can emit short reads in the same run — the script reports the read-length distribution it measured, not just a single verdict, so the recommendation can be sanity-checked.</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hybrid recommendation is a real, named third option, not a fallback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When both short and long reads exist for the same isolate, tools like Unicycler or hybrid SPAdes modes combine long-read scaffolding with short-read accuracy — the script names this explicitly rather than defaulting to whichever read type happens to be listed first.</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strategy choice is upstream of every quality metric that follows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An assembly built with the wrong assembler for the data will not be fixed by any of scripts 3–7 — those scripts describe the assembly you got, they cannot repair a fundamentally mismatched tool choice.</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02</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Running the Assemblers</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SPAdes and Flye solve the same problem two different ways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2</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What Actually Happens Inside SPAdes?</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SPAdes builds a de Bruijn graph from overlapping k-mers across multiple k-mer sizes, then simplifies that graph (removing bubbles from sequencing errors and dead ends from low-coverage artifacts) before extracting contigs. Because the whole method depends on exact k-mer matches, SPAdes is only appropriate for the highly accurate short-read data it was designed for.</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Provide paired-end FASTQ files explicitly with -1 / -2 — never rely on filename globbing to pair them</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Let SPAdes select multiple k-mer sizes automatically, or set them explicitly and document why</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Run with --careful for isolate assemblies where the assembler has budget to correct mismatches</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Confirm the run completed by checking for contigs.fasta AND assembly_graph_with_scaffolds.gfa, not just an exit code</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3</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What Actually Happens Inside Flye?</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Flye assembles noisy long reads by finding approximate (not exact) overlaps between reads, building a repeat graph from those overlaps, and only then polishing consensus sequence over that structure — tolerating the ~5–15% per-read error rate that would break a de Bruijn approach outright. Because it works at the level of approximate overlaps rather than exact k-mers, Flye is what actually lets a single long read span a repeat that would fragment a short-read assembly.</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Select the correct input flag for the sequencing chemistry: --nano-raw, --nano-hq, or --pacbio-raw</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Set --genome-size only as a rough guide — Flye estimates coverage from it but does not require exact accuracy</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Budget memory realistically: Flye holds the whole repeat graph in memory, which scales with genome complexity, not just genome size</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Confirm completion via assembly.fasta AND assembly_graph.gfa — the .gfa is what script 4 actually reads</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SPAdes vs. Flye, Side by Side</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377440"/>
                <a:gridCol w="2926080"/>
                <a:gridCol w="2926080"/>
                <a:gridCol w="2862072"/>
              </a:tblGrid>
              <a:tr h="10241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SPAdes (short reads)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Flye (long reads)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Practical consequence</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Core method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De Bruijn graph over exact k-mers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Overlap-layout-consensus over approximate overlaps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Determines which errors each tool can tolerate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Per-base accuracy tolerated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Very low error rate assumed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Error rates up to ~15% by design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Wrong tool for the data fails or silently underperforms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Repeat handling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Repeats longer than read length fragment the assembly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Long reads can span most bacterial repeats directly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Long reads typically give far higher contiguity on repeat-rich genomes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Typical resource bottleneck</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CPU time and disk I/O</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Memory, scaling with repeat-graph complexity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Plan compute resources differently per tool</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bl>
          </a:graphicData>
        </a:graphic>
      </p:graphicFrame>
      <p:sp>
        <p:nvSpPr>
          <p:cNvPr id="4" name="Text 1"/>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5" name="Text 2"/>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03</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Reading the Graph</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A branch point and a self-loop mean very different things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4</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Read the .gfa File at All?</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The flat FASTA file an assembler produces has already thrown away information: it reports a set of contigs, but not how those contigs connect to each other. The .gfa graph file keeps that connectivity — and a single circular chromosome, correctly assembled, shows up in that graph as one specific, recognizable pattern: a contig with an edge looping back to itself.</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Parse the .gfa Segment (S) and Link (L) lines to reconstruct which contig ends connect to which</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Count branch points: contig ends with more than one distinct outgoing edge — these mark unresolved repeats</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Detect circularity separately: a self-loop (a contig linking an end back to its own other end) marks a closed, circular contig</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Report branch points and circularity as two separate findings per contig, never conflated into one score</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4</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Text 2"/>
          <p:cNvSpPr/>
          <p:nvPr/>
        </p:nvSpPr>
        <p:spPr>
          <a:xfrm>
            <a:off x="548640" y="1298448"/>
            <a:ext cx="11091672" cy="365760"/>
          </a:xfrm>
          <a:prstGeom prst="rect">
            <a:avLst/>
          </a:prstGeom>
          <a:noFill/>
          <a:ln/>
        </p:spPr>
        <p:txBody>
          <a:bodyPr wrap="square" lIns="0" tIns="0" rIns="0" bIns="0" rtlCol="0" anchor="ctr"/>
          <a:lstStyle/>
          <a:p>
            <a:pPr indent="0" marL="0">
              <a:buNone/>
            </a:pPr>
            <a:r>
              <a:rPr lang="en-US" sz="1300" i="1" dirty="0">
                <a:solidFill>
                  <a:srgbClr val="7A7974"/>
                </a:solidFill>
                <a:latin typeface="Calibri" pitchFamily="34" charset="0"/>
                <a:ea typeface="Calibri" pitchFamily="34" charset="-122"/>
                <a:cs typeface="Calibri" pitchFamily="34" charset="-120"/>
              </a:rPr>
              <a:t>Both the SPAdes graph (2 branch points, no circularity) and the Flye graph (0 branch points, 1 self-loop) below were verified against real assembler output this session, not just synthetic fixtures.</a:t>
            </a:r>
            <a:endParaRPr lang="en-US" sz="1300" dirty="0"/>
          </a:p>
        </p:txBody>
      </p:sp>
      <p:sp>
        <p:nvSpPr>
          <p:cNvPr id="5" name="Shape 3"/>
          <p:cNvSpPr/>
          <p:nvPr/>
        </p:nvSpPr>
        <p:spPr>
          <a:xfrm>
            <a:off x="548640" y="1737360"/>
            <a:ext cx="11091672" cy="1347216"/>
          </a:xfrm>
          <a:prstGeom prst="rect">
            <a:avLst/>
          </a:prstGeom>
          <a:solidFill>
            <a:srgbClr val="FBFBF9"/>
          </a:solidFill>
          <a:ln w="9525">
            <a:solidFill>
              <a:srgbClr val="D4D1CA"/>
            </a:solidFill>
            <a:prstDash val="solid"/>
          </a:ln>
        </p:spPr>
      </p:sp>
      <p:sp>
        <p:nvSpPr>
          <p:cNvPr id="6" name="Text 4"/>
          <p:cNvSpPr/>
          <p:nvPr/>
        </p:nvSpPr>
        <p:spPr>
          <a:xfrm>
            <a:off x="804672" y="1737360"/>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branch point is not automatically an error — it is a place the assembler could not resolve alone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smoke-test genome’s engineered 1,200bp repeat produces exactly this: two genuine, expected branch points in the SPAdes graph. The right response is to know why the branch exists (a real repeat), not to assume the assembly is broken.</a:t>
            </a:r>
            <a:endParaRPr lang="en-US" sz="1350" dirty="0"/>
          </a:p>
        </p:txBody>
      </p:sp>
      <p:sp>
        <p:nvSpPr>
          <p:cNvPr id="7" name="Shape 5"/>
          <p:cNvSpPr/>
          <p:nvPr/>
        </p:nvSpPr>
        <p:spPr>
          <a:xfrm>
            <a:off x="548640" y="3267456"/>
            <a:ext cx="11091672" cy="1347216"/>
          </a:xfrm>
          <a:prstGeom prst="rect">
            <a:avLst/>
          </a:prstGeom>
          <a:solidFill>
            <a:srgbClr val="FBFBF9"/>
          </a:solidFill>
          <a:ln w="9525">
            <a:solidFill>
              <a:srgbClr val="D4D1CA"/>
            </a:solidFill>
            <a:prstDash val="solid"/>
          </a:ln>
        </p:spPr>
      </p:sp>
      <p:sp>
        <p:nvSpPr>
          <p:cNvPr id="8" name="Text 6"/>
          <p:cNvSpPr/>
          <p:nvPr/>
        </p:nvSpPr>
        <p:spPr>
          <a:xfrm>
            <a:off x="804672" y="3267456"/>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self-loop is what a correctly closed circular genome is supposed to look like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Before the bug fix, this pattern was being penalized instead of recognized. A circular bacterial chromosome assembled into one contig with a self-loop is often the single best possible result Flye can produce — the graph shape is the evidence of that, not a warning sign.</a:t>
            </a:r>
            <a:endParaRPr lang="en-US" sz="1350" dirty="0"/>
          </a:p>
        </p:txBody>
      </p:sp>
      <p:sp>
        <p:nvSpPr>
          <p:cNvPr id="9" name="Shape 7"/>
          <p:cNvSpPr/>
          <p:nvPr/>
        </p:nvSpPr>
        <p:spPr>
          <a:xfrm>
            <a:off x="548640" y="4797552"/>
            <a:ext cx="11091672" cy="1347216"/>
          </a:xfrm>
          <a:prstGeom prst="rect">
            <a:avLst/>
          </a:prstGeom>
          <a:solidFill>
            <a:srgbClr val="FBFBF9"/>
          </a:solidFill>
          <a:ln w="9525">
            <a:solidFill>
              <a:srgbClr val="D4D1CA"/>
            </a:solidFill>
            <a:prstDash val="solid"/>
          </a:ln>
        </p:spPr>
      </p:sp>
      <p:sp>
        <p:nvSpPr>
          <p:cNvPr id="10" name="Text 8"/>
          <p:cNvSpPr/>
          <p:nvPr/>
        </p:nvSpPr>
        <p:spPr>
          <a:xfrm>
            <a:off x="804672" y="4797552"/>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.gfa format differs slightly in practice between assemblers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SPAdes and Flye do not always populate every optional field identically — the parser was written against both real outputs deliberately, rather than against one assembler’s output with the other assumed to match.</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04</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Contiguity Statistics</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N50/L50 measure fragmentation, not correctness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5</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What Do N50 and L50 Actually Measure?</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N50 is the length of the shortest contig in the set of longest contigs that together cover at least half the total assembly length. It answers exactly one question — how fragmented is this assembly? — and answers no others. A high N50 says nothing about whether the sequence is correct, complete, or free of contamination; a perfectly contiguous assembly of the wrong organism still has an excellent N50.</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Compute total length, contig count, longest and shortest contig directly from the FASTA</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Compute N50/L50 and N90/L90 by sorting contigs longest-to-shortest and walking the cumulative length</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Compute overall GC% across the whole assembly, and per-contig GC% for later comparison</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Always print the caveat verbatim: N50 is a contiguity statistic, not a quality guarantee</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Contiguity Statistics on the Two Worked Assemblies</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103120"/>
                <a:gridCol w="3291840"/>
                <a:gridCol w="2743200"/>
                <a:gridCol w="2953512"/>
              </a:tblGrid>
              <a:tr h="10241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SPAdes (mixed short-read fixture)</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Flye (long-read fixture)</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tells you</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Contig count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5 (1 genome + 4 contaminant fragments)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Fewer contigs is not automatically better — depends on true genome structure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N50</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Dominated by the 49,400bp genome contig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200,000bp (the entire genome)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How fragmented the largest, most-covered sequence is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Circularity (from script 4)</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No — linear contigs, 2 branch points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Yes — 1 self-loop, 0 branch points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the graph closed into a chromosome, independent of N50</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1024128">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Overall GC%</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~50.29% (length-weighted)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~50.29% (single contig)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A first-pass sanity check against the expected organism’s known GC%</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bl>
          </a:graphicData>
        </a:graphic>
      </p:graphicFrame>
      <p:sp>
        <p:nvSpPr>
          <p:cNvPr id="4" name="Text 1"/>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5" name="Text 2"/>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05</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Completeness &amp; Contamination</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Length-weighted proxy checks, and the real tools we did not run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6</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Two Proxy Checks, and Why They Have to Be Length-Weighted</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Neither GC-content nor read-depth outlier detection is a substitute for real completeness/contamination tools — they are fast, dependency-light proxies that catch the most obvious problems and flag what deserves closer inspection with the real tools.</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GC-content outlier check: does any contig’s GC% look out of place?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Each contig’s GC% is compared against the assembly-wide GC% — computed as a LENGTH-WEIGHTED mean, not a simple per-contig average, so that a handful of small fragments cannot pull the baseline toward themselves. Default threshold: ±10 percentage points.</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Read-depth outlier check: does any contig have suspiciously different coverage?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Reads are mapped back with minimap2 and depth is computed with samtools, then compared against a LENGTH-WEIGHTED MEDIAN depth across all contigs (not a simple mean, which small high-coverage contaminant fragments can skew). Default threshold: &gt;3x fold-change from that median.</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What this module explicitly does NOT run, and why that is documented, not hidden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Real completeness assessment (BUSCO: busco -i assembly.fasta -o busco_out -m genome -l bacteria_odb10 --cpu 8) and real contamination screening (CheckM: checkm lineage_wf -x fasta assembly_dir/ checkm_out/ --threads 8) require large reference databases this module does not bundle — the script documents the exact commands rather than faking their output.</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6</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Text 2"/>
          <p:cNvSpPr/>
          <p:nvPr/>
        </p:nvSpPr>
        <p:spPr>
          <a:xfrm>
            <a:off x="548640" y="1298448"/>
            <a:ext cx="11091672" cy="365760"/>
          </a:xfrm>
          <a:prstGeom prst="rect">
            <a:avLst/>
          </a:prstGeom>
          <a:noFill/>
          <a:ln/>
        </p:spPr>
        <p:txBody>
          <a:bodyPr wrap="square" lIns="0" tIns="0" rIns="0" bIns="0" rtlCol="0" anchor="ctr"/>
          <a:lstStyle/>
          <a:p>
            <a:pPr indent="0" marL="0">
              <a:buNone/>
            </a:pPr>
            <a:r>
              <a:rPr lang="en-US" sz="1300" i="1" dirty="0">
                <a:solidFill>
                  <a:srgbClr val="7A7974"/>
                </a:solidFill>
                <a:latin typeface="Calibri" pitchFamily="34" charset="0"/>
                <a:ea typeface="Calibri" pitchFamily="34" charset="-122"/>
                <a:cs typeface="Calibri" pitchFamily="34" charset="-120"/>
              </a:rPr>
              <a:t>The smoke-test fixture (1 genuine 49,400bp genome contig + 4 contaminant fragments of 2,416/713/276/238bp at 81–84% GC vs. the genome’s 50.29%) was rebuilt this session specifically so both checks would have something real to catch.</a:t>
            </a:r>
            <a:endParaRPr lang="en-US" sz="1300" dirty="0"/>
          </a:p>
        </p:txBody>
      </p:sp>
      <p:sp>
        <p:nvSpPr>
          <p:cNvPr id="5" name="Shape 3"/>
          <p:cNvSpPr/>
          <p:nvPr/>
        </p:nvSpPr>
        <p:spPr>
          <a:xfrm>
            <a:off x="548640" y="1737360"/>
            <a:ext cx="11091672" cy="1347216"/>
          </a:xfrm>
          <a:prstGeom prst="rect">
            <a:avLst/>
          </a:prstGeom>
          <a:solidFill>
            <a:srgbClr val="FBFBF9"/>
          </a:solidFill>
          <a:ln w="9525">
            <a:solidFill>
              <a:srgbClr val="D4D1CA"/>
            </a:solidFill>
            <a:prstDash val="solid"/>
          </a:ln>
        </p:spPr>
      </p:sp>
      <p:sp>
        <p:nvSpPr>
          <p:cNvPr id="6" name="Text 4"/>
          <p:cNvSpPr/>
          <p:nvPr/>
        </p:nvSpPr>
        <p:spPr>
          <a:xfrm>
            <a:off x="804672" y="1737360"/>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Unweighted statistics are dominated by contig COUNT, not genome representation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Before the fix, four small contaminant fragments outnumbering one large correct contig pulled the mean/median toward the contaminant’s GC% and depth — which then flagged the dominant, correct genome contig as the outlier instead of the actual contaminants.</a:t>
            </a:r>
            <a:endParaRPr lang="en-US" sz="1350" dirty="0"/>
          </a:p>
        </p:txBody>
      </p:sp>
      <p:sp>
        <p:nvSpPr>
          <p:cNvPr id="7" name="Shape 5"/>
          <p:cNvSpPr/>
          <p:nvPr/>
        </p:nvSpPr>
        <p:spPr>
          <a:xfrm>
            <a:off x="548640" y="3267456"/>
            <a:ext cx="11091672" cy="1347216"/>
          </a:xfrm>
          <a:prstGeom prst="rect">
            <a:avLst/>
          </a:prstGeom>
          <a:solidFill>
            <a:srgbClr val="FBFBF9"/>
          </a:solidFill>
          <a:ln w="9525">
            <a:solidFill>
              <a:srgbClr val="D4D1CA"/>
            </a:solidFill>
            <a:prstDash val="solid"/>
          </a:ln>
        </p:spPr>
      </p:sp>
      <p:sp>
        <p:nvSpPr>
          <p:cNvPr id="8" name="Text 6"/>
          <p:cNvSpPr/>
          <p:nvPr/>
        </p:nvSpPr>
        <p:spPr>
          <a:xfrm>
            <a:off x="804672" y="3267456"/>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proxy check that agrees with a real tool is still not the real tool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These two checks are meant to catch the most obvious cases fast and cheaply. A clean pass on both does not replace running BUSCO and CheckM before publishing or submitting an assembly — the script says this explicitly rather than implying otherwise.</a:t>
            </a:r>
            <a:endParaRPr lang="en-US" sz="1350" dirty="0"/>
          </a:p>
        </p:txBody>
      </p:sp>
      <p:sp>
        <p:nvSpPr>
          <p:cNvPr id="9" name="Shape 7"/>
          <p:cNvSpPr/>
          <p:nvPr/>
        </p:nvSpPr>
        <p:spPr>
          <a:xfrm>
            <a:off x="548640" y="4797552"/>
            <a:ext cx="11091672" cy="1347216"/>
          </a:xfrm>
          <a:prstGeom prst="rect">
            <a:avLst/>
          </a:prstGeom>
          <a:solidFill>
            <a:srgbClr val="FBFBF9"/>
          </a:solidFill>
          <a:ln w="9525">
            <a:solidFill>
              <a:srgbClr val="D4D1CA"/>
            </a:solidFill>
            <a:prstDash val="solid"/>
          </a:ln>
        </p:spPr>
      </p:sp>
      <p:sp>
        <p:nvSpPr>
          <p:cNvPr id="10" name="Text 8"/>
          <p:cNvSpPr/>
          <p:nvPr/>
        </p:nvSpPr>
        <p:spPr>
          <a:xfrm>
            <a:off x="804672" y="4797552"/>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Depth outlier detection requires read mapping, which is a real, non-trivial dependency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script needs minimap2 and samtools installed and the original reads available — if reads are not available (e.g. only a downloaded assembly with no accompanying FASTQ), only the GC-content check can run, and the script says so rather than silently skipping.</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06</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Five Numbers, One Report</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Fitness for purpose is a judgment call the script cannot make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7</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Assemble Everything Into One Report, With Some Sections Left Blank?</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The curriculum’s quality framework has five dimensions — contiguity, completeness, correctness, contamination, and fitness for purpose — and a script can only honestly fill in the first four from what it measured. Whether an assembly is actually fit for its intended purpose (a reference genome? a quick species check? a publication?) depends on the purpose, which no script has access to.</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Run scripts 4, 5, and 6 as subprocesses and capture their verbatim stdout — never re-derive or paraphrase their numbers</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Auto-fill sections 1–3 (graph structure, contiguity statistics, completeness/contamination proxy results) directly from that captured output</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Leave sections 4 (interpretation) and 5 (fitness-for-purpose conclusion) as explicit [FILL IN] prompts — never a guessed default</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State explicitly in section 6 that assembly evaluation and genome annotation are different tasks, and this report only covers the former</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All Seven Scripts, Side by Side</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468880"/>
                <a:gridCol w="3566160"/>
                <a:gridCol w="2103120"/>
                <a:gridCol w="2953512"/>
              </a:tblGrid>
              <a:tr h="6400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Script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New idea it adds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Depends on</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NOT protect against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1. Strategy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Read-type classification drives assembler choice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Raw FASTQ file(s)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the chosen assembler is well-tuned — only that it is the right family of tool</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2. SPAdes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Explicit paired-end + --careful for short reads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1 recommendation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Repeats longer than read length — an inherent short-read limitation, not a bug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3. Flye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Correct chemistry flag + memory-budget awareness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1 recommendation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Consensus accuracy at very low coverage — checked separately downstream</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4. Graph reading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Self-loop vs. branch-point de-duplication fix</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Assembler .gfa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an unresolved branch point is biologically important — a human call</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5. Statistics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N50/L50/N90/L90 with a mandatory non-quality caveat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Assembler FASTA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Correctness or completeness — explicitly a contiguity-only measure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6. Completeness/contamination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Length-weighted GC and depth outlier proxies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Scripts 2/3 output + reads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What BUSCO/CheckM would find — documented as real tools not run here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7. Report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Auto-assembled report with explicit blank judgment sections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Scripts 4/5/6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The genuinely human sections (interpretation, fitness for purpose) — left blank for a reason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bl>
          </a:graphicData>
        </a:graphic>
      </p:graphicFrame>
      <p:sp>
        <p:nvSpPr>
          <p:cNvPr id="4" name="Text 1"/>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Genome Assembly Lecture</a:t>
            </a:r>
            <a:endParaRPr lang="en-US" sz="1000" dirty="0"/>
          </a:p>
        </p:txBody>
      </p:sp>
      <p:sp>
        <p:nvSpPr>
          <p:cNvPr id="5" name="Text 2"/>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822960"/>
            <a:ext cx="7315200" cy="365760"/>
          </a:xfrm>
          <a:prstGeom prst="rect">
            <a:avLst/>
          </a:prstGeom>
          <a:noFill/>
          <a:ln/>
        </p:spPr>
        <p:txBody>
          <a:bodyPr wrap="square" lIns="0" tIns="0" rIns="0" bIns="0" rtlCol="0" anchor="ctr"/>
          <a:lstStyle/>
          <a:p>
            <a:pPr indent="0" marL="0">
              <a:buNone/>
            </a:pPr>
            <a:r>
              <a:rPr lang="en-US" sz="1300" spc="200" kern="0" dirty="0">
                <a:solidFill>
                  <a:srgbClr val="4F98A3"/>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1234440"/>
            <a:ext cx="11091672" cy="731520"/>
          </a:xfrm>
          <a:prstGeom prst="rect">
            <a:avLst/>
          </a:prstGeom>
          <a:noFill/>
          <a:ln/>
        </p:spPr>
        <p:txBody>
          <a:bodyPr wrap="square" lIns="0" tIns="0" rIns="0" bIns="0" rtlCol="0" anchor="ctr"/>
          <a:lstStyle/>
          <a:p>
            <a:pPr indent="0" marL="0">
              <a:buNone/>
            </a:pPr>
            <a:r>
              <a:rPr lang="en-US" sz="3200" b="1" dirty="0">
                <a:solidFill>
                  <a:srgbClr val="CDCCCA"/>
                </a:solidFill>
                <a:latin typeface="Trebuchet MS" pitchFamily="34" charset="0"/>
                <a:ea typeface="Trebuchet MS" pitchFamily="34" charset="-122"/>
                <a:cs typeface="Trebuchet MS" pitchFamily="34" charset="-120"/>
              </a:rPr>
              <a:t>Questions to Take Into the Lab</a:t>
            </a:r>
            <a:endParaRPr lang="en-US" sz="3200" dirty="0"/>
          </a:p>
        </p:txBody>
      </p:sp>
      <p:sp>
        <p:nvSpPr>
          <p:cNvPr id="4" name="Text 2"/>
          <p:cNvSpPr/>
          <p:nvPr/>
        </p:nvSpPr>
        <p:spPr>
          <a:xfrm>
            <a:off x="548640" y="2331720"/>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1</a:t>
            </a:r>
            <a:endParaRPr lang="en-US" sz="2000" dirty="0"/>
          </a:p>
        </p:txBody>
      </p:sp>
      <p:sp>
        <p:nvSpPr>
          <p:cNvPr id="5" name="Text 3"/>
          <p:cNvSpPr/>
          <p:nvPr/>
        </p:nvSpPr>
        <p:spPr>
          <a:xfrm>
            <a:off x="1051560" y="2331720"/>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Script 4 reports a contig as circular with 0 branch points. Why does a self-loop indicate a well-resolved chromosome rather than a problem?</a:t>
            </a:r>
            <a:endParaRPr lang="en-US" sz="1450" dirty="0"/>
          </a:p>
        </p:txBody>
      </p:sp>
      <p:sp>
        <p:nvSpPr>
          <p:cNvPr id="6" name="Text 4"/>
          <p:cNvSpPr/>
          <p:nvPr/>
        </p:nvSpPr>
        <p:spPr>
          <a:xfrm>
            <a:off x="548640" y="3227832"/>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2</a:t>
            </a:r>
            <a:endParaRPr lang="en-US" sz="2000" dirty="0"/>
          </a:p>
        </p:txBody>
      </p:sp>
      <p:sp>
        <p:nvSpPr>
          <p:cNvPr id="7" name="Text 5"/>
          <p:cNvSpPr/>
          <p:nvPr/>
        </p:nvSpPr>
        <p:spPr>
          <a:xfrm>
            <a:off x="1051560" y="3227832"/>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Two assemblies of the same genome have N50 = 180,000bp and N50 = 45,000bp. Is the first one necessarily more correct? What would you need to check before answering?</a:t>
            </a:r>
            <a:endParaRPr lang="en-US" sz="1450" dirty="0"/>
          </a:p>
        </p:txBody>
      </p:sp>
      <p:sp>
        <p:nvSpPr>
          <p:cNvPr id="8" name="Text 6"/>
          <p:cNvSpPr/>
          <p:nvPr/>
        </p:nvSpPr>
        <p:spPr>
          <a:xfrm>
            <a:off x="548640" y="4123944"/>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3</a:t>
            </a:r>
            <a:endParaRPr lang="en-US" sz="2000" dirty="0"/>
          </a:p>
        </p:txBody>
      </p:sp>
      <p:sp>
        <p:nvSpPr>
          <p:cNvPr id="9" name="Text 7"/>
          <p:cNvSpPr/>
          <p:nvPr/>
        </p:nvSpPr>
        <p:spPr>
          <a:xfrm>
            <a:off x="1051560" y="4123944"/>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Why does script 6 use a length-weighted median depth instead of a simple mean or median across all contigs?</a:t>
            </a:r>
            <a:endParaRPr lang="en-US" sz="1450" dirty="0"/>
          </a:p>
        </p:txBody>
      </p:sp>
      <p:sp>
        <p:nvSpPr>
          <p:cNvPr id="10" name="Text 8"/>
          <p:cNvSpPr/>
          <p:nvPr/>
        </p:nvSpPr>
        <p:spPr>
          <a:xfrm>
            <a:off x="548640" y="5020056"/>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4</a:t>
            </a:r>
            <a:endParaRPr lang="en-US" sz="2000" dirty="0"/>
          </a:p>
        </p:txBody>
      </p:sp>
      <p:sp>
        <p:nvSpPr>
          <p:cNvPr id="11" name="Text 9"/>
          <p:cNvSpPr/>
          <p:nvPr/>
        </p:nvSpPr>
        <p:spPr>
          <a:xfrm>
            <a:off x="1051560" y="5020056"/>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If you only had an assembly FASTA with no original reads available, which of script 6’s two checks could you still run, and which would you have to skip?</a:t>
            </a:r>
            <a:endParaRPr lang="en-US" sz="1450" dirty="0"/>
          </a:p>
        </p:txBody>
      </p:sp>
      <p:sp>
        <p:nvSpPr>
          <p:cNvPr id="12" name="Text 10"/>
          <p:cNvSpPr/>
          <p:nvPr/>
        </p:nvSpPr>
        <p:spPr>
          <a:xfrm>
            <a:off x="548640" y="5916168"/>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5</a:t>
            </a:r>
            <a:endParaRPr lang="en-US" sz="2000" dirty="0"/>
          </a:p>
        </p:txBody>
      </p:sp>
      <p:sp>
        <p:nvSpPr>
          <p:cNvPr id="13" name="Text 11"/>
          <p:cNvSpPr/>
          <p:nvPr/>
        </p:nvSpPr>
        <p:spPr>
          <a:xfrm>
            <a:off x="1051560" y="5916168"/>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Open a generated ASSEMBLY_REPORT.md: what would you need to know about the project’s actual goal, that no script could supply, to fill in Section 5 (fitness for purpose) responsibly?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2026-09-02T22:50:37Z</dcterms:created>
  <dcterms:modified xsi:type="dcterms:W3CDTF">2026-09-02T22:50:37Z</dcterms:modified>
</cp:coreProperties>
</file>