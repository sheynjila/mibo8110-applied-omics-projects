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Make explicit up front that this lecture is about the statistical analysis pipeline (Tier B, new this session), which sits downstream of the existing wet-lab pipeline (Tier A, unchanged) — both are part of Module 2, but this lecture focuses on the part students most often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generalized descendant of the original rnaseq_deseq2_analysis.R’s documented by-name matching fix — point out to students that the fix was correct, but it is one check among several a real validation step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intentionally rename one metadata sample and re-run script 1 — seeing the exact, specific error message (not a generic crash) is the point: a validation script should always say exactly what is wrong and 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 has no analogue in the original single-file script — it is a new capability this session added. Emphasize to students that a perfectly confounded design is a re-sequencing problem, not a modeling problem: no argument to DESeq2 can rescue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the perfectly-confounded regression-test fixture’s cross-tabulation directly — seeing the literal 1-to-1 mapping between condition and batch makes the concept concrete in a way the abstract definition often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functional test this session seeded exactly this scenario — two single-sample-spike "noise genes" — and confirmed the naive rule would have wrongly kept both while the group-size-aware rule correctly excluded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session’s functional testing found and fixed a real bug here: vst()’s default 1000-gene subsampling floor errors out when fewer than 1000 genes remain after filtering (common with a small gene panel or aggressive filtering) — the fix caps nsub to the actual gene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predict, before running the script, what the sign of the log2FoldChange would mean under the contrast as printed — then verify against the actual results in script 6. Getting this backwards is one of the most common real-world RNA-seq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moment to run resultsNames(dds) live and compare it character-for-character against what script 6 constructs — seeing that they must match exactly demystifies a common source of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session’s functional test on the signal fixture correctly recovered 30 of 30 seeded true-positive genes among 466 testable genes at padj &lt; 0.05 — use that concrete number if a worked example is useful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find one gene in a results table with a large log2FoldChange but a non-significant padj, and one with a small log2FoldChange but a significant padj — explaining what each pattern means in plain language is the real test of whether the four-numbers distinction has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intentional final step of the whole pipeline: nothing upstream (scripts 1-6) mattered if the resulting figures and report are not something another scientist could actually read, trust, and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1371600"/>
            <a:ext cx="11091672" cy="365760"/>
          </a:xfrm>
          <a:prstGeom prst="rect">
            <a:avLst/>
          </a:prstGeom>
          <a:noFill/>
          <a:ln/>
        </p:spPr>
        <p:txBody>
          <a:bodyPr wrap="square" lIns="0" tIns="0" rIns="0" bIns="0" rtlCol="0" anchor="ctr"/>
          <a:lstStyle/>
          <a:p>
            <a:pPr indent="0" marL="0">
              <a:buNone/>
            </a:pPr>
            <a:r>
              <a:rPr lang="en-US" sz="1400" spc="200" kern="0" dirty="0">
                <a:solidFill>
                  <a:srgbClr val="4F98A3"/>
                </a:solidFill>
                <a:latin typeface="Calibri" pitchFamily="34" charset="0"/>
                <a:ea typeface="Calibri" pitchFamily="34" charset="-122"/>
                <a:cs typeface="Calibri" pitchFamily="34" charset="-120"/>
              </a:rPr>
              <a:t>MIBO8110  ·  MODULE 2: BULK RNA-SEQ &amp; GENE EXPRESSION</a:t>
            </a:r>
            <a:endParaRPr lang="en-US" sz="1400" dirty="0"/>
          </a:p>
        </p:txBody>
      </p:sp>
      <p:sp>
        <p:nvSpPr>
          <p:cNvPr id="3" name="Text 1"/>
          <p:cNvSpPr/>
          <p:nvPr/>
        </p:nvSpPr>
        <p:spPr>
          <a:xfrm>
            <a:off x="548640" y="1920240"/>
            <a:ext cx="11091672" cy="118872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From a Count Matrix to a Defensible Gene List</a:t>
            </a:r>
            <a:endParaRPr lang="en-US" sz="3800" dirty="0"/>
          </a:p>
        </p:txBody>
      </p:sp>
      <p:sp>
        <p:nvSpPr>
          <p:cNvPr id="4" name="Text 2"/>
          <p:cNvSpPr/>
          <p:nvPr/>
        </p:nvSpPr>
        <p:spPr>
          <a:xfrm>
            <a:off x="548640" y="3063240"/>
            <a:ext cx="9692640" cy="1371600"/>
          </a:xfrm>
          <a:prstGeom prst="rect">
            <a:avLst/>
          </a:prstGeom>
          <a:noFill/>
          <a:ln/>
        </p:spPr>
        <p:txBody>
          <a:bodyPr wrap="square" lIns="0" tIns="0" rIns="0" bIns="0" rtlCol="0" anchor="ctr"/>
          <a:lstStyle/>
          <a:p>
            <a:pPr indent="0" marL="0">
              <a:lnSpc>
                <a:spcPct val="130000"/>
              </a:lnSpc>
              <a:buNone/>
            </a:pPr>
            <a:r>
              <a:rPr lang="en-US" sz="1550" dirty="0">
                <a:solidFill>
                  <a:srgbClr val="797876"/>
                </a:solidFill>
                <a:latin typeface="Calibri" pitchFamily="34" charset="0"/>
                <a:ea typeface="Calibri" pitchFamily="34" charset="-122"/>
                <a:cs typeface="Calibri" pitchFamily="34" charset="-120"/>
              </a:rPr>
              <a:t>Aligning reads and counting them is the easy part. This lecture covers the part that actually determines whether your differential-expression results mean anything: validating the count matrix, catching confounded designs before they doom the analysis, filtering low-information genes with a real rule, exploring structure with PCA, specifying the model explicitly, and reporting four distinct numbers instead of one misleading one.</a:t>
            </a:r>
            <a:endParaRPr lang="en-US" sz="1550" dirty="0"/>
          </a:p>
        </p:txBody>
      </p:sp>
      <p:sp>
        <p:nvSpPr>
          <p:cNvPr id="5" name="Text 3"/>
          <p:cNvSpPr/>
          <p:nvPr/>
        </p:nvSpPr>
        <p:spPr>
          <a:xfrm>
            <a:off x="548640" y="5806440"/>
            <a:ext cx="11091672" cy="457200"/>
          </a:xfrm>
          <a:prstGeom prst="rect">
            <a:avLst/>
          </a:prstGeom>
          <a:noFill/>
          <a:ln/>
        </p:spPr>
        <p:txBody>
          <a:bodyPr wrap="square" lIns="0" tIns="0" rIns="0" bIns="0" rtlCol="0" anchor="ctr"/>
          <a:lstStyle/>
          <a:p>
            <a:pPr indent="0" marL="0">
              <a:buNone/>
            </a:pPr>
            <a:r>
              <a:rPr lang="en-US" sz="1200" dirty="0">
                <a:solidFill>
                  <a:srgbClr val="4F98A3"/>
                </a:solidFill>
                <a:latin typeface="Calibri" pitchFamily="34" charset="0"/>
                <a:ea typeface="Calibri" pitchFamily="34" charset="-122"/>
                <a:cs typeface="Calibri" pitchFamily="34" charset="-120"/>
              </a:rPr>
              <a:t>Validate first   ·   Detect confounding   ·   Explicit design &amp; contrast   ·   Effect size vs. FDR   ·   Accessible reporting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a:ln/>
        </p:spPr>
        <p:txBody>
          <a:bodyPr wrap="square" lIns="0" tIns="0" rIns="0" bIns="0" rtlCol="0" anchor="ctr"/>
          <a:lstStyle/>
          <a:p>
            <a:pPr indent="0" marL="0">
              <a:buNone/>
            </a:pPr>
            <a:r>
              <a:rPr lang="en-US" sz="3200" b="1" dirty="0">
                <a:solidFill>
                  <a:srgbClr val="28251D"/>
                </a:solidFill>
                <a:latin typeface="Trebuchet MS" pitchFamily="34" charset="0"/>
                <a:ea typeface="Trebuchet MS" pitchFamily="34" charset="-122"/>
                <a:cs typeface="Trebuchet MS" pitchFamily="34" charset="-120"/>
              </a:rPr>
              <a:t>Agenda</a:t>
            </a:r>
            <a:endParaRPr lang="en-US" sz="3200" dirty="0"/>
          </a:p>
        </p:txBody>
      </p:sp>
      <p:sp>
        <p:nvSpPr>
          <p:cNvPr id="3" name="Text 1"/>
          <p:cNvSpPr/>
          <p:nvPr/>
        </p:nvSpPr>
        <p:spPr>
          <a:xfrm>
            <a:off x="548640" y="141732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00</a:t>
            </a:r>
            <a:endParaRPr lang="en-US" sz="1800" dirty="0"/>
          </a:p>
        </p:txBody>
      </p:sp>
      <p:sp>
        <p:nvSpPr>
          <p:cNvPr id="4" name="Text 2"/>
          <p:cNvSpPr/>
          <p:nvPr/>
        </p:nvSpPr>
        <p:spPr>
          <a:xfrm>
            <a:off x="1115568" y="141732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Why This Module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Counting reads is not the hard part of RNA-seq</a:t>
            </a:r>
            <a:endParaRPr lang="en-US" sz="1400" dirty="0"/>
          </a:p>
        </p:txBody>
      </p:sp>
      <p:sp>
        <p:nvSpPr>
          <p:cNvPr id="5" name="Text 3"/>
          <p:cNvSpPr/>
          <p:nvPr/>
        </p:nvSpPr>
        <p:spPr>
          <a:xfrm>
            <a:off x="548640" y="228600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01</a:t>
            </a:r>
            <a:endParaRPr lang="en-US" sz="1800" dirty="0"/>
          </a:p>
        </p:txBody>
      </p:sp>
      <p:sp>
        <p:nvSpPr>
          <p:cNvPr id="6" name="Text 4"/>
          <p:cNvSpPr/>
          <p:nvPr/>
        </p:nvSpPr>
        <p:spPr>
          <a:xfrm>
            <a:off x="1115568" y="228600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Validate Before You Trust It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Integers, not TPM — and names, not column positions</a:t>
            </a:r>
            <a:endParaRPr lang="en-US" sz="1400" dirty="0"/>
          </a:p>
        </p:txBody>
      </p:sp>
      <p:sp>
        <p:nvSpPr>
          <p:cNvPr id="7" name="Text 5"/>
          <p:cNvSpPr/>
          <p:nvPr/>
        </p:nvSpPr>
        <p:spPr>
          <a:xfrm>
            <a:off x="548640" y="315468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02</a:t>
            </a:r>
            <a:endParaRPr lang="en-US" sz="1800" dirty="0"/>
          </a:p>
        </p:txBody>
      </p:sp>
      <p:sp>
        <p:nvSpPr>
          <p:cNvPr id="8" name="Text 6"/>
          <p:cNvSpPr/>
          <p:nvPr/>
        </p:nvSpPr>
        <p:spPr>
          <a:xfrm>
            <a:off x="1115568" y="315468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Design &amp; Confounding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The design flaw no model can fix after the fact</a:t>
            </a:r>
            <a:endParaRPr lang="en-US" sz="1400" dirty="0"/>
          </a:p>
        </p:txBody>
      </p:sp>
      <p:sp>
        <p:nvSpPr>
          <p:cNvPr id="9" name="Text 7"/>
          <p:cNvSpPr/>
          <p:nvPr/>
        </p:nvSpPr>
        <p:spPr>
          <a:xfrm>
            <a:off x="548640" y="402336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03</a:t>
            </a:r>
            <a:endParaRPr lang="en-US" sz="1800" dirty="0"/>
          </a:p>
        </p:txBody>
      </p:sp>
      <p:sp>
        <p:nvSpPr>
          <p:cNvPr id="10" name="Text 8"/>
          <p:cNvSpPr/>
          <p:nvPr/>
        </p:nvSpPr>
        <p:spPr>
          <a:xfrm>
            <a:off x="1115568" y="402336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Filtering &amp; Exploration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A group-size-aware rule, then a first look via PCA</a:t>
            </a:r>
            <a:endParaRPr lang="en-US" sz="1400" dirty="0"/>
          </a:p>
        </p:txBody>
      </p:sp>
      <p:sp>
        <p:nvSpPr>
          <p:cNvPr id="11" name="Text 9"/>
          <p:cNvSpPr/>
          <p:nvPr/>
        </p:nvSpPr>
        <p:spPr>
          <a:xfrm>
            <a:off x="6217920" y="141732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04</a:t>
            </a:r>
            <a:endParaRPr lang="en-US" sz="1800" dirty="0"/>
          </a:p>
        </p:txBody>
      </p:sp>
      <p:sp>
        <p:nvSpPr>
          <p:cNvPr id="12" name="Text 10"/>
          <p:cNvSpPr/>
          <p:nvPr/>
        </p:nvSpPr>
        <p:spPr>
          <a:xfrm>
            <a:off x="6784848" y="141732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Explicit Modeling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Reference levels and contrasts you chose, not ones you inherited</a:t>
            </a:r>
            <a:endParaRPr lang="en-US" sz="1400" dirty="0"/>
          </a:p>
        </p:txBody>
      </p:sp>
      <p:sp>
        <p:nvSpPr>
          <p:cNvPr id="13" name="Text 11"/>
          <p:cNvSpPr/>
          <p:nvPr/>
        </p:nvSpPr>
        <p:spPr>
          <a:xfrm>
            <a:off x="6217920" y="228600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05</a:t>
            </a:r>
            <a:endParaRPr lang="en-US" sz="1800" dirty="0"/>
          </a:p>
        </p:txBody>
      </p:sp>
      <p:sp>
        <p:nvSpPr>
          <p:cNvPr id="14" name="Text 12"/>
          <p:cNvSpPr/>
          <p:nvPr/>
        </p:nvSpPr>
        <p:spPr>
          <a:xfrm>
            <a:off x="6784848" y="228600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Four Numbers, Not One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Effect size, uncertainty, p-value, and FDR are not interchangeable</a:t>
            </a:r>
            <a:endParaRPr lang="en-US" sz="1400" dirty="0"/>
          </a:p>
        </p:txBody>
      </p:sp>
      <p:sp>
        <p:nvSpPr>
          <p:cNvPr id="15" name="Text 13"/>
          <p:cNvSpPr/>
          <p:nvPr/>
        </p:nvSpPr>
        <p:spPr>
          <a:xfrm>
            <a:off x="6217920" y="3154680"/>
            <a:ext cx="548640" cy="795528"/>
          </a:xfrm>
          <a:prstGeom prst="rect">
            <a:avLst/>
          </a:prstGeom>
          <a:noFill/>
          <a:ln/>
        </p:spPr>
        <p:txBody>
          <a:bodyPr wrap="square" lIns="0" tIns="0" rIns="0" bIns="0" rtlCol="0" anchor="t"/>
          <a:lstStyle/>
          <a:p>
            <a:pPr indent="0" marL="0">
              <a:buNone/>
            </a:pPr>
            <a:r>
              <a:rPr lang="en-US" sz="1800" b="1" dirty="0">
                <a:solidFill>
                  <a:srgbClr val="01696F"/>
                </a:solidFill>
                <a:latin typeface="Trebuchet MS" pitchFamily="34" charset="0"/>
                <a:ea typeface="Trebuchet MS" pitchFamily="34" charset="-122"/>
                <a:cs typeface="Trebuchet MS" pitchFamily="34" charset="-120"/>
              </a:rPr>
              <a:t>06</a:t>
            </a:r>
            <a:endParaRPr lang="en-US" sz="1800" dirty="0"/>
          </a:p>
        </p:txBody>
      </p:sp>
      <p:sp>
        <p:nvSpPr>
          <p:cNvPr id="16" name="Text 14"/>
          <p:cNvSpPr/>
          <p:nvPr/>
        </p:nvSpPr>
        <p:spPr>
          <a:xfrm>
            <a:off x="6784848" y="3154680"/>
            <a:ext cx="4782312" cy="795528"/>
          </a:xfrm>
          <a:prstGeom prst="rect">
            <a:avLst/>
          </a:prstGeom>
          <a:noFill/>
          <a:ln/>
        </p:spPr>
        <p:txBody>
          <a:bodyPr wrap="square" lIns="0" tIns="0" rIns="0" bIns="0" rtlCol="0" anchor="t"/>
          <a:lstStyle/>
          <a:p>
            <a:pPr indent="0" marL="0">
              <a:lnSpc>
                <a:spcPct val="115000"/>
              </a:lnSpc>
              <a:buNone/>
            </a:pPr>
            <a:r>
              <a:rPr lang="en-US" sz="1400" b="1" dirty="0">
                <a:solidFill>
                  <a:srgbClr val="28251D"/>
                </a:solidFill>
                <a:latin typeface="Calibri" pitchFamily="34" charset="0"/>
                <a:ea typeface="Calibri" pitchFamily="34" charset="-122"/>
                <a:cs typeface="Calibri" pitchFamily="34" charset="-120"/>
              </a:rPr>
              <a:t xml:space="preserve">Accessible Figures &amp; the Report  </a:t>
            </a:r>
            <a:pPr indent="0" marL="0">
              <a:lnSpc>
                <a:spcPct val="115000"/>
              </a:lnSpc>
              <a:buNone/>
            </a:pPr>
            <a:r>
              <a:rPr lang="en-US" sz="1250" dirty="0">
                <a:solidFill>
                  <a:srgbClr val="7A7974"/>
                </a:solidFill>
                <a:latin typeface="Calibri" pitchFamily="34" charset="0"/>
                <a:ea typeface="Calibri" pitchFamily="34" charset="-122"/>
                <a:cs typeface="Calibri" pitchFamily="34" charset="-120"/>
              </a:rPr>
              <a:t>Colorblind-safe plots and the portfolio artifact</a:t>
            </a:r>
            <a:endParaRPr lang="en-US" sz="1400" dirty="0"/>
          </a:p>
        </p:txBody>
      </p:sp>
      <p:sp>
        <p:nvSpPr>
          <p:cNvPr id="17" name="Text 15"/>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WHY THIS MODULE</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Where Most RNA-seq Mistakes Actually Happen</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By the time you have a gene x sample count matrix, the wet-lab pipeline (Tier A: SRA download, FastQC, fastp, HISAT2, featureCounts) has already done its job. What separates a defensible differential-expression result from a wrong one is almost entirely what happens next — in seven short scripts, none of which touch a sequencer.</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original script had a real, specific bug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previous single-file rnaseq_deseq2_analysis.R matched metadata to counts and fixed that by name-matching — documented in its own header. That fix is real and necessary, but it is one fix among many a working analysis needs, not the whole story.</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approach: seven scripts, seven separate judgment calls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Validate the input (1), rule out a fatally confounded design (2), filter with a documented rule (3), look at the data before modeling it (4), commit to an explicit model (5), separate effect size from significance (6), and report accessibly (7) — each is a real decision point, not a formality.</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payoff: DE_REPORT.md is the portfolio artifact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The curriculum asks for a reproducible report covering validation, exploration, model specification, results, effect sizes, interpretation, and limitations. Script 7 auto-fills everything a script legitimately can — and deliberately leaves the two sections that require a human judgment blank.</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01</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Validate Before You Trust It</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Integers, not TPM — and names, not column positions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1</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Not Just Load the Count Matrix and Go?</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DESeq2’s statistical model assumes raw integer counts — it models count noise directly and will run without complaint on normalized data (TPM, FPKM, CPM), silently producing meaningless results. Separately, if your metadata rows are matched to count columns by POSITION instead of by NAME, a single reordered column assigns every sample’s condition label to the wrong sample — and every result downstream is still internally consistent-looking, just wrong.</a:t>
            </a:r>
            <a:endParaRPr lang="en-US" sz="1400" dirty="0"/>
          </a:p>
          <a:p>
            <a:pPr indent="0" marL="0">
              <a:lnSpc>
                <a:spcPct val="132000"/>
              </a:lnSpc>
              <a:buNone/>
            </a:pPr>
            <a:endParaRPr lang="en-US" sz="1400" dirty="0"/>
          </a:p>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This script catches both failure modes before either can propagate.</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Strip featureCounts annotation columns (Chr, Start, End, Strand, Length) automatically</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Confirm every remaining value is a non-negative integer — hard-fail if it looks like normalized data</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Match every count column to a metadata row by sample NAME, never column position</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Report any count column with no metadata row, and any metadata row with no count column, by name</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1</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Non-integer counts do not always look obviously wrong at a glance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TPM values can be small numbers that superficially resemble low counts. The script checks programmatically for non-integer values and for a sum-to-consistent-library-size pattern rather than relying on a human noticing the file "looks off."</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By-name matching only works if sample names are actually consistent between the two files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trailing suffix mismatch (e.g. "_1" from featureCounts vs. no suffix in a hand-written metadata.csv) will make every sample fail to match — the fix is to make the names agree, not to fall back to positional matching.</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validation PASS here is necessary, not sufficient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This script confirms the data is well-formed and correctly matched — it says nothing about whether the experimental design itself is sound. That is exactly what script 2 checks next.</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02</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Design &amp; Confounding</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The design flaw no model can fix after the fact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2</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Check Confounding Before Modeling Anything?</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A "batch effect" is only a solvable problem if batch varies WITHIN each condition group — which lets the model separate the two effects statistically. If every treatment sample happens to be from batch B and every control sample from batch A, batch and condition are perfectly confounded: no statistical method, however sophisticated, can tell you whether a detected difference is due to treatment or due to batch. This has to be caught before fitting anything, because after the fact it looks exactly like a real result.</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Count replicates per condition group — flag anything below n=3 as underpowered for typical variance estimation</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Cross-tabulate condition against every other metadata column (batch, sex, sequencing run, etc.)</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Programmatically detect PERFECT confounding: any column where each condition level maps to exactly one other-column level</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Report the verdict per column — not just a single yes/no for the whole design</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Confounding, Made Concrete</a:t>
            </a:r>
            <a:endParaRPr lang="en-US" sz="2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5120640"/>
        </p:xfrm>
        <a:graphic>
          <a:graphicData uri="http://schemas.openxmlformats.org/drawingml/2006/table">
            <a:tbl>
              <a:tblPr/>
              <a:tblGrid>
                <a:gridCol w="2011680"/>
                <a:gridCol w="4206240"/>
                <a:gridCol w="1463040"/>
                <a:gridCol w="3410712"/>
              </a:tblGrid>
              <a:tr h="12801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 x Batch table</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Can the model separate the effects?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r>
              <a:tr h="128016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Balanced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3 control/batch A + 3 control/batch B; 3 treatment/batch A + 3 treatment/batch B</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Yes — batch varies within each condition, so its effect can be estimated separately</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128016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Perfectly confounded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All 6 control samples are batch A; all 6 treatment samples are batch B</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FAIL</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No — batch and condition are the same split; any detected difference could be either cause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128016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Partially unbalanced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5 control/batch A + 1 control/batch B; 2 treatment/batch A + 4 treatment/batch B</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WARN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Weakly — technically separable, but with very low power to distinguish the two effects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bl>
          </a:graphicData>
        </a:graphic>
      </p:graphicFrame>
      <p:sp>
        <p:nvSpPr>
          <p:cNvPr id="4" name="Text 1"/>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5" name="Text 2"/>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2</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Text 2"/>
          <p:cNvSpPr/>
          <p:nvPr/>
        </p:nvSpPr>
        <p:spPr>
          <a:xfrm>
            <a:off x="548640" y="1298448"/>
            <a:ext cx="11091672" cy="365760"/>
          </a:xfrm>
          <a:prstGeom prst="rect">
            <a:avLst/>
          </a:prstGeom>
          <a:noFill/>
          <a:ln/>
        </p:spPr>
        <p:txBody>
          <a:bodyPr wrap="square" lIns="0" tIns="0" rIns="0" bIns="0" rtlCol="0" anchor="ctr"/>
          <a:lstStyle/>
          <a:p>
            <a:pPr indent="0" marL="0">
              <a:buNone/>
            </a:pPr>
            <a:r>
              <a:rPr lang="en-US" sz="1300" i="1" dirty="0">
                <a:solidFill>
                  <a:srgbClr val="7A7974"/>
                </a:solidFill>
                <a:latin typeface="Calibri" pitchFamily="34" charset="0"/>
                <a:ea typeface="Calibri" pitchFamily="34" charset="-122"/>
                <a:cs typeface="Calibri" pitchFamily="34" charset="-120"/>
              </a:rPr>
              <a:t>Both the balanced and perfectly-confounded cases below were functionally regression-tested against synthetic fixtures this session.</a:t>
            </a:r>
            <a:endParaRPr lang="en-US" sz="1300" dirty="0"/>
          </a:p>
        </p:txBody>
      </p:sp>
      <p:sp>
        <p:nvSpPr>
          <p:cNvPr id="5" name="Shape 3"/>
          <p:cNvSpPr/>
          <p:nvPr/>
        </p:nvSpPr>
        <p:spPr>
          <a:xfrm>
            <a:off x="548640" y="1737360"/>
            <a:ext cx="11091672" cy="1347216"/>
          </a:xfrm>
          <a:prstGeom prst="rect">
            <a:avLst/>
          </a:prstGeom>
          <a:solidFill>
            <a:srgbClr val="FBFBF9"/>
          </a:solidFill>
          <a:ln w="9525">
            <a:solidFill>
              <a:srgbClr val="D4D1CA"/>
            </a:solidFill>
            <a:prstDash val="solid"/>
          </a:ln>
        </p:spPr>
      </p:sp>
      <p:sp>
        <p:nvSpPr>
          <p:cNvPr id="6" name="Text 4"/>
          <p:cNvSpPr/>
          <p:nvPr/>
        </p:nvSpPr>
        <p:spPr>
          <a:xfrm>
            <a:off x="804672" y="1737360"/>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confounding check on a column you never intended to model still matters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Even if you never plan to include batch in the design formula, a confounded batch means you cannot rule out batch as the true explanation for your condition effect — the confound does not go away just because you left it out of the formula.</a:t>
            </a:r>
            <a:endParaRPr lang="en-US" sz="1350" dirty="0"/>
          </a:p>
        </p:txBody>
      </p:sp>
      <p:sp>
        <p:nvSpPr>
          <p:cNvPr id="7" name="Shape 5"/>
          <p:cNvSpPr/>
          <p:nvPr/>
        </p:nvSpPr>
        <p:spPr>
          <a:xfrm>
            <a:off x="548640" y="3267456"/>
            <a:ext cx="11091672" cy="1347216"/>
          </a:xfrm>
          <a:prstGeom prst="rect">
            <a:avLst/>
          </a:prstGeom>
          <a:solidFill>
            <a:srgbClr val="FBFBF9"/>
          </a:solidFill>
          <a:ln w="9525">
            <a:solidFill>
              <a:srgbClr val="D4D1CA"/>
            </a:solidFill>
            <a:prstDash val="solid"/>
          </a:ln>
        </p:spPr>
      </p:sp>
      <p:sp>
        <p:nvSpPr>
          <p:cNvPr id="8" name="Text 6"/>
          <p:cNvSpPr/>
          <p:nvPr/>
        </p:nvSpPr>
        <p:spPr>
          <a:xfrm>
            <a:off x="804672" y="3267456"/>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fix is almost never statistical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Once a design is perfectly confounded, no choice of DESeq2 arguments recovers the lost information. The real fix is experimental: re-sequence with the confounded variable balanced across condition groups.</a:t>
            </a:r>
            <a:endParaRPr lang="en-US" sz="1350" dirty="0"/>
          </a:p>
        </p:txBody>
      </p:sp>
      <p:sp>
        <p:nvSpPr>
          <p:cNvPr id="9" name="Shape 7"/>
          <p:cNvSpPr/>
          <p:nvPr/>
        </p:nvSpPr>
        <p:spPr>
          <a:xfrm>
            <a:off x="548640" y="4797552"/>
            <a:ext cx="11091672" cy="1347216"/>
          </a:xfrm>
          <a:prstGeom prst="rect">
            <a:avLst/>
          </a:prstGeom>
          <a:solidFill>
            <a:srgbClr val="FBFBF9"/>
          </a:solidFill>
          <a:ln w="9525">
            <a:solidFill>
              <a:srgbClr val="D4D1CA"/>
            </a:solidFill>
            <a:prstDash val="solid"/>
          </a:ln>
        </p:spPr>
      </p:sp>
      <p:sp>
        <p:nvSpPr>
          <p:cNvPr id="10" name="Text 8"/>
          <p:cNvSpPr/>
          <p:nvPr/>
        </p:nvSpPr>
        <p:spPr>
          <a:xfrm>
            <a:off x="804672" y="4797552"/>
            <a:ext cx="10579608" cy="134721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Low replicate count (n&lt;3 per group) is a different problem from confounding, and both should be checked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design can be perfectly unconfounded and still be underpowered simply from having too few biological replicates to estimate within-group variance reliably — script 2 checks both, separately.</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03</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Filtering &amp; Exploration</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A group-size-aware rule, then a first look via PCA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3</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Not Just Filter rowSums(counts) &gt;= 10?</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A naive total-count threshold can be satisfied entirely by ONE sample with a large spike — a gene with counts (0, 0, 0, 0, 0, 60) passes rowSums &gt;= 10 despite being undetected in 5 of 6 samples. That pattern is far more consistent with noise, contamination, or a technical artifact than with real, reproducibly expressed biology.</a:t>
            </a:r>
            <a:endParaRPr lang="en-US" sz="1400" dirty="0"/>
          </a:p>
          <a:p>
            <a:pPr indent="0" marL="0">
              <a:lnSpc>
                <a:spcPct val="132000"/>
              </a:lnSpc>
              <a:buNone/>
            </a:pPr>
            <a:endParaRPr lang="en-US" sz="1400" dirty="0"/>
          </a:p>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This script instead requires a minimum count in at least as many samples as the SMALLEST condition group — a rule tied to the actual experimental design, not an arbitrary total.</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Determine the smallest condition group size from the metadata (e.g. 3, if the smallest group has 3 replicates)</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Keep a gene only if &gt;= min_count reads appear in &gt;= that many samples</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Print a side-by-side count: how many genes the naive rowSums rule would keep vs. this rule</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Write counts_filtered.tsv — every script downstream uses this file, never the unfiltered counts</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4</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What PCA and the Distance Heatmap Are Actually For</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Variance-stabilizing transformation (VST) turns raw counts into something with roughly stable variance across expression levels — the input PCA and clustering need to be meaningful. Neither PCA nor the heatmap tests anything statistically; both exist to catch problems with your eyes before you commit to a model.</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PCA answers: does the data cluster the way the experimental design predicts?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If samples separate cleanly by condition along PC1, that is a strong good sign. If they instead cluster by an unrelated variable (batch, sequencing date), that is worth investigating before proceeding — not necessarily disqualifying, but worth explaining.</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distance heatmap answers a different question: are any two samples suspiciously similar or different?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Hierarchical clustering on sample-to-sample distances can reveal a mislabeled sample (clustering with the wrong condition group) or a technical outlier that PCA’s 2D projection might compress out of view.</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Script 4 also flags outliers programmatically, not just visually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Any sample sitting more than 3 standard deviations from its own group’s PCA centroid is flagged explicitly in the console output — a starting point for investigation, not an automatic exclusion.</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04</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Explicit Modeling</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Reference levels and contrasts you chose, not ones you inherited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5</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relevel() and a Named Contrast, Every Time?</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By default, R sorts factor levels alphabetically — which means DESeq2’s default reference level for a "control"/"treatment" factor is whichever label comes first alphabetically. For "control" vs. "treatment" that happens to be correct by luck; for "KO" vs. "WT" it is backwards, and every log2FoldChange in your results table would have the wrong sign without you ever seeing an error.</a:t>
            </a:r>
            <a:endParaRPr lang="en-US" sz="1400" dirty="0"/>
          </a:p>
          <a:p>
            <a:pPr indent="0" marL="0">
              <a:lnSpc>
                <a:spcPct val="132000"/>
              </a:lnSpc>
              <a:buNone/>
            </a:pPr>
            <a:endParaRPr lang="en-US" sz="1400" dirty="0"/>
          </a:p>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This script makes the reference level an explicit function argument, and builds the contrast as a named vector rather than relying on results()’s positional default.</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Accept the reference/control level as an explicit argument — never inferred from alphabetical order</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Call relevel(dds$condition, ref = reference_level) before fitting</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Build the contrast as c("condition", "treatment_level", "reference_level") — named, not positional</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Print the resulting design formula and contrast direction so it can be checked before proceeding</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5</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results() without an explicit contrast uses whatever comparison DESeq2 fit last — which is easy to lose track of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In a design with more than two condition levels, calling results(dds) with no arguments returns whichever comparison happens to be last in resultsNames(dds) — not necessarily the comparison you meant to report.</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The reference level choice changes the SIGN of every fold change, not just a label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Flipping the reference level from "control" to "treatment" negates every log2FoldChange in the results table. This is exactly the kind of silent, hard-to-catch error an explicit relevel() call and printed contrast are meant to prevent.</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coefficient name has to match resultsNames(dds) EXACTLY for apeglm shrinkage to work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Script 6’s coefficient-name construction ("condition_treatment_vs_control") was independently verified this session against DESeq2’s actual resultsNames() output — a mismatched name fails silently into the fallback shrinkage method rather than erroring loudly, so this is worth checking directly at least once.</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05</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Four Numbers, Not One</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Effect size, uncertainty, p-value, and FDR are not interchangeable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6</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The Four Numbers DESeq2 Reports Per Gene</a:t>
            </a:r>
            <a:endParaRPr lang="en-US" sz="2700" dirty="0"/>
          </a:p>
        </p:txBody>
      </p:sp>
      <p:sp>
        <p:nvSpPr>
          <p:cNvPr id="4" name="Text 2"/>
          <p:cNvSpPr/>
          <p:nvPr/>
        </p:nvSpPr>
        <p:spPr>
          <a:xfrm>
            <a:off x="548640" y="1298448"/>
            <a:ext cx="11091672" cy="411480"/>
          </a:xfrm>
          <a:prstGeom prst="rect">
            <a:avLst/>
          </a:prstGeom>
          <a:noFill/>
          <a:ln/>
        </p:spPr>
        <p:txBody>
          <a:bodyPr wrap="square" lIns="0" tIns="0" rIns="0" bIns="0" rtlCol="0" anchor="ctr"/>
          <a:lstStyle/>
          <a:p>
            <a:pPr indent="0" marL="0">
              <a:buNone/>
            </a:pPr>
            <a:r>
              <a:rPr lang="en-US" sz="1350" i="1" dirty="0">
                <a:solidFill>
                  <a:srgbClr val="7A7974"/>
                </a:solidFill>
                <a:latin typeface="Calibri" pitchFamily="34" charset="0"/>
                <a:ea typeface="Calibri" pitchFamily="34" charset="-122"/>
                <a:cs typeface="Calibri" pitchFamily="34" charset="-120"/>
              </a:rPr>
              <a:t>A results() row for one gene contains four genuinely different pieces of information. Conflating any two of them — especially reporting a raw p-value count instead of an FDR-adjusted one — is the single most common way a differential-expression analysis overstates its own confidence.</a:t>
            </a:r>
            <a:endParaRPr lang="en-US" sz="1350" dirty="0"/>
          </a:p>
        </p:txBody>
      </p:sp>
      <p:sp>
        <p:nvSpPr>
          <p:cNvPr id="5" name="Shape 3"/>
          <p:cNvSpPr/>
          <p:nvPr/>
        </p:nvSpPr>
        <p:spPr>
          <a:xfrm>
            <a:off x="548640" y="1828800"/>
            <a:ext cx="11091672" cy="1286256"/>
          </a:xfrm>
          <a:prstGeom prst="rect">
            <a:avLst/>
          </a:prstGeom>
          <a:solidFill>
            <a:srgbClr val="FBFBF9"/>
          </a:solidFill>
          <a:ln w="9525">
            <a:solidFill>
              <a:srgbClr val="D4D1CA"/>
            </a:solidFill>
            <a:prstDash val="solid"/>
          </a:ln>
        </p:spPr>
      </p:sp>
      <p:sp>
        <p:nvSpPr>
          <p:cNvPr id="6" name="Text 4"/>
          <p:cNvSpPr/>
          <p:nvPr/>
        </p:nvSpPr>
        <p:spPr>
          <a:xfrm>
            <a:off x="804672" y="1828800"/>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log2FoldChange — effect size: how much did expression change, and in which direction?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Script 6 uses the apeglm-shrunk estimate (or a documented normal-shrinkage fallback) rather than the raw MLE estimate, which is unstable for low-count genes and tends to overstate fold changes for noisy genes.</a:t>
            </a:r>
            <a:endParaRPr lang="en-US" sz="1350" dirty="0"/>
          </a:p>
        </p:txBody>
      </p:sp>
      <p:sp>
        <p:nvSpPr>
          <p:cNvPr id="7" name="Shape 5"/>
          <p:cNvSpPr/>
          <p:nvPr/>
        </p:nvSpPr>
        <p:spPr>
          <a:xfrm>
            <a:off x="548640" y="3343656"/>
            <a:ext cx="11091672" cy="1286256"/>
          </a:xfrm>
          <a:prstGeom prst="rect">
            <a:avLst/>
          </a:prstGeom>
          <a:solidFill>
            <a:srgbClr val="FBFBF9"/>
          </a:solidFill>
          <a:ln w="9525">
            <a:solidFill>
              <a:srgbClr val="D4D1CA"/>
            </a:solidFill>
            <a:prstDash val="solid"/>
          </a:ln>
        </p:spPr>
      </p:sp>
      <p:sp>
        <p:nvSpPr>
          <p:cNvPr id="8" name="Text 6"/>
          <p:cNvSpPr/>
          <p:nvPr/>
        </p:nvSpPr>
        <p:spPr>
          <a:xfrm>
            <a:off x="804672" y="3343656"/>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lfcSE — uncertainty: how precisely was that effect size estimated?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A large fold change with a large standard error is a much weaker claim than the same fold change with a small one — the point estimate alone never tells the full story.</a:t>
            </a:r>
            <a:endParaRPr lang="en-US" sz="1350" dirty="0"/>
          </a:p>
        </p:txBody>
      </p:sp>
      <p:sp>
        <p:nvSpPr>
          <p:cNvPr id="9" name="Shape 7"/>
          <p:cNvSpPr/>
          <p:nvPr/>
        </p:nvSpPr>
        <p:spPr>
          <a:xfrm>
            <a:off x="548640" y="4858512"/>
            <a:ext cx="11091672" cy="1286256"/>
          </a:xfrm>
          <a:prstGeom prst="rect">
            <a:avLst/>
          </a:prstGeom>
          <a:solidFill>
            <a:srgbClr val="FBFBF9"/>
          </a:solidFill>
          <a:ln w="9525">
            <a:solidFill>
              <a:srgbClr val="D4D1CA"/>
            </a:solidFill>
            <a:prstDash val="solid"/>
          </a:ln>
        </p:spPr>
      </p:sp>
      <p:sp>
        <p:nvSpPr>
          <p:cNvPr id="10" name="Text 8"/>
          <p:cNvSpPr/>
          <p:nvPr/>
        </p:nvSpPr>
        <p:spPr>
          <a:xfrm>
            <a:off x="804672" y="4858512"/>
            <a:ext cx="10579608" cy="128625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pvalue vs. padj — raw significance vs. FDR-adjusted significance: these answer different questions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Testing thousands of genes means thousands of chances for a false positive at any fixed p-value threshold. padj (Benjamini-Hochberg by default) controls the expected proportion of false discoveries among genes called significant — pvalue does not. Script 6 explicitly warns against reporting a raw-pvalue significant-gene count, and prints by how much doing so would overstate the real, FDR-controlled number.</a:t>
            </a:r>
            <a:endParaRPr lang="en-US" sz="1350" dirty="0"/>
          </a:p>
        </p:txBody>
      </p:sp>
      <p:sp>
        <p:nvSpPr>
          <p:cNvPr id="11" name="Text 9"/>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2" name="Text 10"/>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6</a:t>
            </a:r>
            <a:endParaRPr lang="en-US" sz="1200" dirty="0"/>
          </a:p>
        </p:txBody>
      </p:sp>
      <p:sp>
        <p:nvSpPr>
          <p:cNvPr id="3" name="Text 1"/>
          <p:cNvSpPr/>
          <p:nvPr/>
        </p:nvSpPr>
        <p:spPr>
          <a:xfrm>
            <a:off x="548640" y="749808"/>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Nuances &amp; Pitfalls</a:t>
            </a:r>
            <a:endParaRPr lang="en-US" sz="2700" dirty="0"/>
          </a:p>
        </p:txBody>
      </p:sp>
      <p:sp>
        <p:nvSpPr>
          <p:cNvPr id="4" name="Shape 2"/>
          <p:cNvSpPr/>
          <p:nvPr/>
        </p:nvSpPr>
        <p:spPr>
          <a:xfrm>
            <a:off x="548640" y="1371600"/>
            <a:ext cx="11091672" cy="1469136"/>
          </a:xfrm>
          <a:prstGeom prst="rect">
            <a:avLst/>
          </a:prstGeom>
          <a:solidFill>
            <a:srgbClr val="FBFBF9"/>
          </a:solidFill>
          <a:ln w="9525">
            <a:solidFill>
              <a:srgbClr val="D4D1CA"/>
            </a:solidFill>
            <a:prstDash val="solid"/>
          </a:ln>
        </p:spPr>
      </p:sp>
      <p:sp>
        <p:nvSpPr>
          <p:cNvPr id="5" name="Text 3"/>
          <p:cNvSpPr/>
          <p:nvPr/>
        </p:nvSpPr>
        <p:spPr>
          <a:xfrm>
            <a:off x="804672" y="1371600"/>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"Significant" without qualification should always mean padj-significant in this course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Script 6 is written to make this the path of least resistance — its printed summary reports the padj-based count prominently and frames the raw-pvalue count as something to explicitly avoid reporting, not a second valid number to choose between.</a:t>
            </a:r>
            <a:endParaRPr lang="en-US" sz="1350" dirty="0"/>
          </a:p>
        </p:txBody>
      </p:sp>
      <p:sp>
        <p:nvSpPr>
          <p:cNvPr id="6" name="Shape 4"/>
          <p:cNvSpPr/>
          <p:nvPr/>
        </p:nvSpPr>
        <p:spPr>
          <a:xfrm>
            <a:off x="548640" y="3023616"/>
            <a:ext cx="11091672" cy="1469136"/>
          </a:xfrm>
          <a:prstGeom prst="rect">
            <a:avLst/>
          </a:prstGeom>
          <a:solidFill>
            <a:srgbClr val="FBFBF9"/>
          </a:solidFill>
          <a:ln w="9525">
            <a:solidFill>
              <a:srgbClr val="D4D1CA"/>
            </a:solidFill>
            <a:prstDash val="solid"/>
          </a:ln>
        </p:spPr>
      </p:sp>
      <p:sp>
        <p:nvSpPr>
          <p:cNvPr id="7" name="Text 5"/>
          <p:cNvSpPr/>
          <p:nvPr/>
        </p:nvSpPr>
        <p:spPr>
          <a:xfrm>
            <a:off x="804672" y="3023616"/>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 statistically significant gene can still have a biologically trivial effect size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With enough samples, even a log2FoldChange near zero can reach padj &lt; 0.05. Script 6 flags "significant but trivial effect" genes (|log2FoldChange| &lt; 0.5) separately, so they can be excluded from the biological narrative even though they pass the statistical threshold.</a:t>
            </a:r>
            <a:endParaRPr lang="en-US" sz="1350" dirty="0"/>
          </a:p>
        </p:txBody>
      </p:sp>
      <p:sp>
        <p:nvSpPr>
          <p:cNvPr id="8" name="Shape 6"/>
          <p:cNvSpPr/>
          <p:nvPr/>
        </p:nvSpPr>
        <p:spPr>
          <a:xfrm>
            <a:off x="548640" y="4675632"/>
            <a:ext cx="11091672" cy="1469136"/>
          </a:xfrm>
          <a:prstGeom prst="rect">
            <a:avLst/>
          </a:prstGeom>
          <a:solidFill>
            <a:srgbClr val="FBFBF9"/>
          </a:solidFill>
          <a:ln w="9525">
            <a:solidFill>
              <a:srgbClr val="D4D1CA"/>
            </a:solidFill>
            <a:prstDash val="solid"/>
          </a:ln>
        </p:spPr>
      </p:sp>
      <p:sp>
        <p:nvSpPr>
          <p:cNvPr id="9" name="Text 7"/>
          <p:cNvSpPr/>
          <p:nvPr/>
        </p:nvSpPr>
        <p:spPr>
          <a:xfrm>
            <a:off x="804672" y="4675632"/>
            <a:ext cx="10579608" cy="1469136"/>
          </a:xfrm>
          <a:prstGeom prst="rect">
            <a:avLst/>
          </a:prstGeom>
          <a:noFill/>
          <a:ln/>
        </p:spPr>
        <p:txBody>
          <a:bodyPr wrap="square" lIns="0" tIns="0" rIns="0" bIns="0" rtlCol="0" anchor="ctr"/>
          <a:lstStyle/>
          <a:p>
            <a:pPr indent="0" marL="0">
              <a:lnSpc>
                <a:spcPct val="122000"/>
              </a:lnSpc>
              <a:buNone/>
            </a:pPr>
            <a:r>
              <a:rPr lang="en-US" sz="1350" b="1" dirty="0">
                <a:solidFill>
                  <a:srgbClr val="28251D"/>
                </a:solidFill>
                <a:latin typeface="Calibri" pitchFamily="34" charset="0"/>
                <a:ea typeface="Calibri" pitchFamily="34" charset="-122"/>
                <a:cs typeface="Calibri" pitchFamily="34" charset="-120"/>
              </a:rPr>
              <a:t xml:space="preserve">apeglm is the preferred shrinkage estimator, but the fallback is a real, documented, working alternative — not a broken placeholder  —  </a:t>
            </a:r>
            <a:pPr indent="0" marL="0">
              <a:lnSpc>
                <a:spcPct val="122000"/>
              </a:lnSpc>
              <a:buNone/>
            </a:pPr>
            <a:r>
              <a:rPr lang="en-US" sz="1300" dirty="0">
                <a:solidFill>
                  <a:srgbClr val="7A7974"/>
                </a:solidFill>
                <a:latin typeface="Calibri" pitchFamily="34" charset="0"/>
                <a:ea typeface="Calibri" pitchFamily="34" charset="-122"/>
                <a:cs typeface="Calibri" pitchFamily="34" charset="-120"/>
              </a:rPr>
              <a:t>If apeglm is not installed, the script falls back to lfcShrink(..., type="normal") and prints a warning explaining the substitution — the results are still usable and correctly labeled as coming from a different method.</a:t>
            </a:r>
            <a:endParaRPr lang="en-US" sz="1350" dirty="0"/>
          </a:p>
        </p:txBody>
      </p:sp>
      <p:sp>
        <p:nvSpPr>
          <p:cNvPr id="10" name="Text 8"/>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1" name="Text 9"/>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2286000"/>
            <a:ext cx="2743200" cy="1371600"/>
          </a:xfrm>
          <a:prstGeom prst="rect">
            <a:avLst/>
          </a:prstGeom>
          <a:noFill/>
          <a:ln/>
        </p:spPr>
        <p:txBody>
          <a:bodyPr wrap="square" lIns="0" tIns="0" rIns="0" bIns="0" rtlCol="0" anchor="ctr"/>
          <a:lstStyle/>
          <a:p>
            <a:pPr indent="0" marL="0">
              <a:buNone/>
            </a:pPr>
            <a:r>
              <a:rPr lang="en-US" sz="9600" b="1" dirty="0">
                <a:solidFill>
                  <a:srgbClr val="4F98A3"/>
                </a:solidFill>
                <a:latin typeface="Trebuchet MS" pitchFamily="34" charset="0"/>
                <a:ea typeface="Trebuchet MS" pitchFamily="34" charset="-122"/>
                <a:cs typeface="Trebuchet MS" pitchFamily="34" charset="-120"/>
              </a:rPr>
              <a:t>06</a:t>
            </a:r>
            <a:endParaRPr lang="en-US" sz="9600" dirty="0"/>
          </a:p>
        </p:txBody>
      </p:sp>
      <p:sp>
        <p:nvSpPr>
          <p:cNvPr id="3" name="Text 1"/>
          <p:cNvSpPr/>
          <p:nvPr/>
        </p:nvSpPr>
        <p:spPr>
          <a:xfrm>
            <a:off x="548640" y="3794760"/>
            <a:ext cx="11091672" cy="822960"/>
          </a:xfrm>
          <a:prstGeom prst="rect">
            <a:avLst/>
          </a:prstGeom>
          <a:noFill/>
          <a:ln/>
        </p:spPr>
        <p:txBody>
          <a:bodyPr wrap="square" lIns="0" tIns="0" rIns="0" bIns="0" rtlCol="0" anchor="ctr"/>
          <a:lstStyle/>
          <a:p>
            <a:pPr indent="0" marL="0">
              <a:buNone/>
            </a:pPr>
            <a:r>
              <a:rPr lang="en-US" sz="3800" b="1" dirty="0">
                <a:solidFill>
                  <a:srgbClr val="CDCCCA"/>
                </a:solidFill>
                <a:latin typeface="Trebuchet MS" pitchFamily="34" charset="0"/>
                <a:ea typeface="Trebuchet MS" pitchFamily="34" charset="-122"/>
                <a:cs typeface="Trebuchet MS" pitchFamily="34" charset="-120"/>
              </a:rPr>
              <a:t>Accessible Figures &amp; the Report</a:t>
            </a:r>
            <a:endParaRPr lang="en-US" sz="3800" dirty="0"/>
          </a:p>
        </p:txBody>
      </p:sp>
      <p:sp>
        <p:nvSpPr>
          <p:cNvPr id="4" name="Text 2"/>
          <p:cNvSpPr/>
          <p:nvPr/>
        </p:nvSpPr>
        <p:spPr>
          <a:xfrm>
            <a:off x="548640" y="4526280"/>
            <a:ext cx="9144000" cy="548640"/>
          </a:xfrm>
          <a:prstGeom prst="rect">
            <a:avLst/>
          </a:prstGeom>
          <a:noFill/>
          <a:ln/>
        </p:spPr>
        <p:txBody>
          <a:bodyPr wrap="square" lIns="0" tIns="0" rIns="0" bIns="0" rtlCol="0" anchor="ctr"/>
          <a:lstStyle/>
          <a:p>
            <a:pPr indent="0" marL="0">
              <a:buNone/>
            </a:pPr>
            <a:r>
              <a:rPr lang="en-US" sz="1600" dirty="0">
                <a:solidFill>
                  <a:srgbClr val="797876"/>
                </a:solidFill>
                <a:latin typeface="Calibri" pitchFamily="34" charset="0"/>
                <a:ea typeface="Calibri" pitchFamily="34" charset="-122"/>
                <a:cs typeface="Calibri" pitchFamily="34" charset="-120"/>
              </a:rPr>
              <a:t>Colorblind-safe plots and the portfolio artifact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spc="150" kern="0" dirty="0">
                <a:solidFill>
                  <a:srgbClr val="01696F"/>
                </a:solidFill>
                <a:latin typeface="Calibri" pitchFamily="34" charset="0"/>
                <a:ea typeface="Calibri" pitchFamily="34" charset="-122"/>
                <a:cs typeface="Calibri" pitchFamily="34" charset="-120"/>
              </a:rPr>
              <a:t>SCRIPT 7</a:t>
            </a:r>
            <a:endParaRPr lang="en-US" sz="1200" dirty="0"/>
          </a:p>
        </p:txBody>
      </p:sp>
      <p:sp>
        <p:nvSpPr>
          <p:cNvPr id="3" name="Text 1"/>
          <p:cNvSpPr/>
          <p:nvPr/>
        </p:nvSpPr>
        <p:spPr>
          <a:xfrm>
            <a:off x="548640" y="749808"/>
            <a:ext cx="11091672" cy="64008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Why Colorblind-Safe Colors and Direct Labels, By Default?</a:t>
            </a:r>
            <a:endParaRPr lang="en-US" sz="2700" dirty="0"/>
          </a:p>
        </p:txBody>
      </p:sp>
      <p:sp>
        <p:nvSpPr>
          <p:cNvPr id="4" name="Text 2"/>
          <p:cNvSpPr/>
          <p:nvPr/>
        </p:nvSpPr>
        <p:spPr>
          <a:xfrm>
            <a:off x="548640" y="1600200"/>
            <a:ext cx="4846320"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WHY THIS ANALYSIS</a:t>
            </a:r>
            <a:endParaRPr lang="en-US" sz="1200" dirty="0"/>
          </a:p>
        </p:txBody>
      </p:sp>
      <p:sp>
        <p:nvSpPr>
          <p:cNvPr id="5" name="Text 3"/>
          <p:cNvSpPr/>
          <p:nvPr/>
        </p:nvSpPr>
        <p:spPr>
          <a:xfrm>
            <a:off x="548640" y="1947672"/>
            <a:ext cx="4846320" cy="4361688"/>
          </a:xfrm>
          <a:prstGeom prst="rect">
            <a:avLst/>
          </a:prstGeom>
          <a:noFill/>
          <a:ln/>
        </p:spPr>
        <p:txBody>
          <a:bodyPr wrap="square" lIns="0" tIns="0" rIns="0" bIns="0" rtlCol="0" anchor="t"/>
          <a:lstStyle/>
          <a:p>
            <a:pPr indent="0" marL="0">
              <a:lnSpc>
                <a:spcPct val="132000"/>
              </a:lnSpc>
              <a:buNone/>
            </a:pPr>
            <a:r>
              <a:rPr lang="en-US" sz="1400" dirty="0">
                <a:solidFill>
                  <a:srgbClr val="28251D"/>
                </a:solidFill>
                <a:latin typeface="Calibri" pitchFamily="34" charset="0"/>
                <a:ea typeface="Calibri" pitchFamily="34" charset="-122"/>
                <a:cs typeface="Calibri" pitchFamily="34" charset="-120"/>
              </a:rPr>
              <a:t>A red/green volcano plot is unreadable to roughly 8% of men with red-green color vision deficiency — a large, entirely avoidable accessibility failure for a figure whose whole purpose is to be scanned quickly. Direct labeling (gene names placed next to their points) also removes the need to cross-reference a separate legend, which matters more as the story a figure tells gets more specific.</a:t>
            </a:r>
            <a:endParaRPr lang="en-US" sz="1400" dirty="0"/>
          </a:p>
        </p:txBody>
      </p:sp>
      <p:sp>
        <p:nvSpPr>
          <p:cNvPr id="6" name="Text 4"/>
          <p:cNvSpPr/>
          <p:nvPr/>
        </p:nvSpPr>
        <p:spPr>
          <a:xfrm>
            <a:off x="5852160" y="1600200"/>
            <a:ext cx="5788152" cy="274320"/>
          </a:xfrm>
          <a:prstGeom prst="rect">
            <a:avLst/>
          </a:prstGeom>
          <a:noFill/>
          <a:ln/>
        </p:spPr>
        <p:txBody>
          <a:bodyPr wrap="square" lIns="0" tIns="0" rIns="0" bIns="0" rtlCol="0" anchor="ctr"/>
          <a:lstStyle/>
          <a:p>
            <a:pPr indent="0" marL="0">
              <a:buNone/>
            </a:pPr>
            <a:r>
              <a:rPr lang="en-US" sz="1200" b="1" spc="100" kern="0" dirty="0">
                <a:solidFill>
                  <a:srgbClr val="7A7974"/>
                </a:solidFill>
                <a:latin typeface="Calibri" pitchFamily="34" charset="0"/>
                <a:ea typeface="Calibri" pitchFamily="34" charset="-122"/>
                <a:cs typeface="Calibri" pitchFamily="34" charset="-120"/>
              </a:rPr>
              <a:t>CORE WORKFLOW</a:t>
            </a:r>
            <a:endParaRPr lang="en-US" sz="1200" dirty="0"/>
          </a:p>
        </p:txBody>
      </p:sp>
      <p:sp>
        <p:nvSpPr>
          <p:cNvPr id="7" name="Text 5"/>
          <p:cNvSpPr/>
          <p:nvPr/>
        </p:nvSpPr>
        <p:spPr>
          <a:xfrm>
            <a:off x="5852160" y="1947672"/>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01</a:t>
            </a:r>
            <a:endParaRPr lang="en-US" sz="1600" dirty="0"/>
          </a:p>
        </p:txBody>
      </p:sp>
      <p:sp>
        <p:nvSpPr>
          <p:cNvPr id="8" name="Text 6"/>
          <p:cNvSpPr/>
          <p:nvPr/>
        </p:nvSpPr>
        <p:spPr>
          <a:xfrm>
            <a:off x="6355080" y="1947672"/>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Volcano plot: blue (#5591C7) vs. orange (#DA7101) instead of red/green, with top genes labeled directly on the plot</a:t>
            </a:r>
            <a:endParaRPr lang="en-US" sz="1250" dirty="0"/>
          </a:p>
        </p:txBody>
      </p:sp>
      <p:sp>
        <p:nvSpPr>
          <p:cNvPr id="9" name="Text 7"/>
          <p:cNvSpPr/>
          <p:nvPr/>
        </p:nvSpPr>
        <p:spPr>
          <a:xfrm>
            <a:off x="5852160" y="3038094"/>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02</a:t>
            </a:r>
            <a:endParaRPr lang="en-US" sz="1600" dirty="0"/>
          </a:p>
        </p:txBody>
      </p:sp>
      <p:sp>
        <p:nvSpPr>
          <p:cNvPr id="10" name="Text 8"/>
          <p:cNvSpPr/>
          <p:nvPr/>
        </p:nvSpPr>
        <p:spPr>
          <a:xfrm>
            <a:off x="6355080" y="3038094"/>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MA plot: same accessible palette, log2FoldChange vs. mean expression, again with direct gene labels</a:t>
            </a:r>
            <a:endParaRPr lang="en-US" sz="1250" dirty="0"/>
          </a:p>
        </p:txBody>
      </p:sp>
      <p:sp>
        <p:nvSpPr>
          <p:cNvPr id="11" name="Text 9"/>
          <p:cNvSpPr/>
          <p:nvPr/>
        </p:nvSpPr>
        <p:spPr>
          <a:xfrm>
            <a:off x="5852160" y="4128516"/>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03</a:t>
            </a:r>
            <a:endParaRPr lang="en-US" sz="1600" dirty="0"/>
          </a:p>
        </p:txBody>
      </p:sp>
      <p:sp>
        <p:nvSpPr>
          <p:cNvPr id="12" name="Text 10"/>
          <p:cNvSpPr/>
          <p:nvPr/>
        </p:nvSpPr>
        <p:spPr>
          <a:xfrm>
            <a:off x="6355080" y="4128516"/>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top_genes.csv: a plain, sortable table of the genes labeled on the plots, for anyone who wants the exact numbers</a:t>
            </a:r>
            <a:endParaRPr lang="en-US" sz="1250" dirty="0"/>
          </a:p>
        </p:txBody>
      </p:sp>
      <p:sp>
        <p:nvSpPr>
          <p:cNvPr id="13" name="Text 11"/>
          <p:cNvSpPr/>
          <p:nvPr/>
        </p:nvSpPr>
        <p:spPr>
          <a:xfrm>
            <a:off x="5852160" y="5218938"/>
            <a:ext cx="457200" cy="1035558"/>
          </a:xfrm>
          <a:prstGeom prst="rect">
            <a:avLst/>
          </a:prstGeom>
          <a:noFill/>
          <a:ln/>
        </p:spPr>
        <p:txBody>
          <a:bodyPr wrap="square" lIns="0" tIns="0" rIns="0" bIns="0" rtlCol="0" anchor="t"/>
          <a:lstStyle/>
          <a:p>
            <a:pPr indent="0" marL="0">
              <a:buNone/>
            </a:pPr>
            <a:r>
              <a:rPr lang="en-US" sz="1600" b="1" dirty="0">
                <a:solidFill>
                  <a:srgbClr val="01696F"/>
                </a:solidFill>
                <a:latin typeface="Trebuchet MS" pitchFamily="34" charset="0"/>
                <a:ea typeface="Trebuchet MS" pitchFamily="34" charset="-122"/>
                <a:cs typeface="Trebuchet MS" pitchFamily="34" charset="-120"/>
              </a:rPr>
              <a:t>04</a:t>
            </a:r>
            <a:endParaRPr lang="en-US" sz="1600" dirty="0"/>
          </a:p>
        </p:txBody>
      </p:sp>
      <p:sp>
        <p:nvSpPr>
          <p:cNvPr id="14" name="Text 12"/>
          <p:cNvSpPr/>
          <p:nvPr/>
        </p:nvSpPr>
        <p:spPr>
          <a:xfrm>
            <a:off x="6355080" y="5218938"/>
            <a:ext cx="5285232" cy="1035558"/>
          </a:xfrm>
          <a:prstGeom prst="rect">
            <a:avLst/>
          </a:prstGeom>
          <a:noFill/>
          <a:ln/>
        </p:spPr>
        <p:txBody>
          <a:bodyPr wrap="square" lIns="0" tIns="0" rIns="0" bIns="0" rtlCol="0" anchor="t"/>
          <a:lstStyle/>
          <a:p>
            <a:pPr indent="0" marL="0">
              <a:lnSpc>
                <a:spcPct val="115000"/>
              </a:lnSpc>
              <a:buNone/>
            </a:pPr>
            <a:r>
              <a:rPr lang="en-US" sz="1250" dirty="0">
                <a:solidFill>
                  <a:srgbClr val="28251D"/>
                </a:solidFill>
                <a:latin typeface="Calibri" pitchFamily="34" charset="0"/>
                <a:ea typeface="Calibri" pitchFamily="34" charset="-122"/>
                <a:cs typeface="Calibri" pitchFamily="34" charset="-120"/>
              </a:rPr>
              <a:t>DE_REPORT.md: auto-assembled from every prior script’s output, with Sections 8-9 left blank for the analyst</a:t>
            </a:r>
            <a:endParaRPr lang="en-US" sz="1250" dirty="0"/>
          </a:p>
        </p:txBody>
      </p:sp>
      <p:sp>
        <p:nvSpPr>
          <p:cNvPr id="15" name="Text 13"/>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16" name="Text 14"/>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48640" y="457200"/>
            <a:ext cx="11091672" cy="548640"/>
          </a:xfrm>
          <a:prstGeom prst="rect">
            <a:avLst/>
          </a:prstGeom>
          <a:noFill/>
          <a:ln/>
        </p:spPr>
        <p:txBody>
          <a:bodyPr wrap="square" lIns="0" tIns="0" rIns="0" bIns="0" rtlCol="0" anchor="ctr"/>
          <a:lstStyle/>
          <a:p>
            <a:pPr indent="0" marL="0">
              <a:buNone/>
            </a:pPr>
            <a:r>
              <a:rPr lang="en-US" sz="2700" b="1" dirty="0">
                <a:solidFill>
                  <a:srgbClr val="28251D"/>
                </a:solidFill>
                <a:latin typeface="Trebuchet MS" pitchFamily="34" charset="0"/>
                <a:ea typeface="Trebuchet MS" pitchFamily="34" charset="-122"/>
                <a:cs typeface="Trebuchet MS" pitchFamily="34" charset="-120"/>
              </a:rPr>
              <a:t>All Seven Scripts, Side by Side</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5120640"/>
        </p:xfrm>
        <a:graphic>
          <a:graphicData uri="http://schemas.openxmlformats.org/drawingml/2006/table">
            <a:tbl>
              <a:tblPr/>
              <a:tblGrid>
                <a:gridCol w="2377440"/>
                <a:gridCol w="3566160"/>
                <a:gridCol w="1828800"/>
                <a:gridCol w="3319272"/>
              </a:tblGrid>
              <a:tr h="6400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Script</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New idea it adds</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Depends on</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NOT protect against</a:t>
                      </a:r>
                      <a:endParaRPr lang="en-US" sz="120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1. Validate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Integer check + by-NAME metadata matching</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Raw counts + metadata.csv</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the experimental design itself is sound — only that the data is well-formed</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2. Confounding</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Programmatic perfect-confound detection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 1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Underpowered-but-unconfounded designs — checked separately via replicate count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3. Filter</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Group-size-aware rule vs. naive rowSums</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 1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Biological relevance of a kept gene — only that it clears a detectability floor</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4. Explore (VST/PCA)</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Outlier flagging + capped vst() nsub fix</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 3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Statistical significance of anything — this is diagnostic, not inferential</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5. Design &amp; contrast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Explicit relevel() + named contrast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 3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Whether the CHOSEN contrast is the scientifically interesting one — that is a human call</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6. DE test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Shrinkage + explicit padj-based significance</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 5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Biological meaning of a hit — only its statistical defensibility</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r>
              <a:tr h="640080">
                <a:tc>
                  <a:txBody>
                    <a:bodyPr/>
                    <a:lstStyle/>
                    <a:p>
                      <a:pPr algn="l" indent="0" marL="0">
                        <a:buNone/>
                      </a:pPr>
                      <a:r>
                        <a:rPr lang="en-US" sz="1150" b="1" dirty="0">
                          <a:solidFill>
                            <a:srgbClr val="28251D"/>
                          </a:solidFill>
                          <a:latin typeface="Calibri" pitchFamily="34" charset="0"/>
                          <a:ea typeface="Calibri" pitchFamily="34" charset="-122"/>
                          <a:cs typeface="Calibri" pitchFamily="34" charset="-120"/>
                        </a:rPr>
                        <a:t>7. Figures &amp; report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Accessible plots + auto-assembled report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Script 6 output</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algn="l" indent="0" marL="0">
                        <a:buNone/>
                      </a:pPr>
                      <a:r>
                        <a:rPr lang="en-US" sz="1150" dirty="0">
                          <a:solidFill>
                            <a:srgbClr val="7A7974"/>
                          </a:solidFill>
                          <a:latin typeface="Calibri" pitchFamily="34" charset="0"/>
                          <a:ea typeface="Calibri" pitchFamily="34" charset="-122"/>
                          <a:cs typeface="Calibri" pitchFamily="34" charset="-120"/>
                        </a:rPr>
                        <a:t>The genuinely human sections (interpretation, limitations) — left blank for a reason</a:t>
                      </a:r>
                      <a:endParaRPr lang="en-US" sz="1150" dirty="0">
                        <a:latin typeface="Calibri" charset="0"/>
                        <a:ea typeface="Calibri" charset="0"/>
                        <a:cs typeface="Calibri" charset="0"/>
                      </a:endParaRPr>
                    </a:p>
                  </a:txBody>
                  <a:tcPr marL="91440" marR="91440" marT="45720" marB="45720" anchor="ct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r>
            </a:tbl>
          </a:graphicData>
        </a:graphic>
      </p:graphicFrame>
      <p:sp>
        <p:nvSpPr>
          <p:cNvPr id="4" name="Text 1"/>
          <p:cNvSpPr/>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7A7974"/>
                </a:solidFill>
                <a:latin typeface="Calibri" pitchFamily="34" charset="0"/>
                <a:ea typeface="Calibri" pitchFamily="34" charset="-122"/>
                <a:cs typeface="Calibri" pitchFamily="34" charset="-120"/>
              </a:rPr>
              <a:t>MIBO8110 · Bulk RNA-seq Lecture</a:t>
            </a:r>
            <a:endParaRPr lang="en-US" sz="1000" dirty="0"/>
          </a:p>
        </p:txBody>
      </p:sp>
      <p:sp>
        <p:nvSpPr>
          <p:cNvPr id="5" name="Text 2"/>
          <p:cNvSpPr/>
          <p:nvPr/>
        </p:nvSpPr>
        <p:spPr>
          <a:xfrm>
            <a:off x="11183112" y="6473952"/>
            <a:ext cx="457200" cy="274320"/>
          </a:xfrm>
          <a:prstGeom prst="rect">
            <a:avLst/>
          </a:prstGeom>
          <a:noFill/>
          <a:ln/>
        </p:spPr>
        <p:txBody>
          <a:bodyPr wrap="square" lIns="0" tIns="0" rIns="0" bIns="0" rtlCol="0" anchor="ctr"/>
          <a:lstStyle/>
          <a:p>
            <a:pPr algn="r" indent="0" marL="0">
              <a:buNone/>
            </a:pPr>
            <a:r>
              <a:rPr lang="en-US" sz="1000" dirty="0">
                <a:solidFill>
                  <a:srgbClr val="7A797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1614"/>
        </a:solidFill>
      </p:bgPr>
    </p:bg>
    <p:spTree>
      <p:nvGrpSpPr>
        <p:cNvPr id="1" name=""/>
        <p:cNvGrpSpPr/>
        <p:nvPr/>
      </p:nvGrpSpPr>
      <p:grpSpPr>
        <a:xfrm>
          <a:off x="0" y="0"/>
          <a:ext cx="0" cy="0"/>
          <a:chOff x="0" y="0"/>
          <a:chExt cx="0" cy="0"/>
        </a:xfrm>
      </p:grpSpPr>
      <p:sp>
        <p:nvSpPr>
          <p:cNvPr id="2" name="Text 0"/>
          <p:cNvSpPr/>
          <p:nvPr/>
        </p:nvSpPr>
        <p:spPr>
          <a:xfrm>
            <a:off x="548640" y="822960"/>
            <a:ext cx="7315200" cy="365760"/>
          </a:xfrm>
          <a:prstGeom prst="rect">
            <a:avLst/>
          </a:prstGeom>
          <a:noFill/>
          <a:ln/>
        </p:spPr>
        <p:txBody>
          <a:bodyPr wrap="square" lIns="0" tIns="0" rIns="0" bIns="0" rtlCol="0" anchor="ctr"/>
          <a:lstStyle/>
          <a:p>
            <a:pPr indent="0" marL="0">
              <a:buNone/>
            </a:pPr>
            <a:r>
              <a:rPr lang="en-US" sz="1300" spc="200" kern="0" dirty="0">
                <a:solidFill>
                  <a:srgbClr val="4F98A3"/>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1234440"/>
            <a:ext cx="11091672" cy="731520"/>
          </a:xfrm>
          <a:prstGeom prst="rect">
            <a:avLst/>
          </a:prstGeom>
          <a:noFill/>
          <a:ln/>
        </p:spPr>
        <p:txBody>
          <a:bodyPr wrap="square" lIns="0" tIns="0" rIns="0" bIns="0" rtlCol="0" anchor="ctr"/>
          <a:lstStyle/>
          <a:p>
            <a:pPr indent="0" marL="0">
              <a:buNone/>
            </a:pPr>
            <a:r>
              <a:rPr lang="en-US" sz="3200" b="1" dirty="0">
                <a:solidFill>
                  <a:srgbClr val="CDCCCA"/>
                </a:solidFill>
                <a:latin typeface="Trebuchet MS" pitchFamily="34" charset="0"/>
                <a:ea typeface="Trebuchet MS" pitchFamily="34" charset="-122"/>
                <a:cs typeface="Trebuchet MS" pitchFamily="34" charset="-120"/>
              </a:rPr>
              <a:t>Questions to Take Into the Lab</a:t>
            </a:r>
            <a:endParaRPr lang="en-US" sz="3200" dirty="0"/>
          </a:p>
        </p:txBody>
      </p:sp>
      <p:sp>
        <p:nvSpPr>
          <p:cNvPr id="4" name="Text 2"/>
          <p:cNvSpPr/>
          <p:nvPr/>
        </p:nvSpPr>
        <p:spPr>
          <a:xfrm>
            <a:off x="548640" y="2331720"/>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1</a:t>
            </a:r>
            <a:endParaRPr lang="en-US" sz="2000" dirty="0"/>
          </a:p>
        </p:txBody>
      </p:sp>
      <p:sp>
        <p:nvSpPr>
          <p:cNvPr id="5" name="Text 3"/>
          <p:cNvSpPr/>
          <p:nvPr/>
        </p:nvSpPr>
        <p:spPr>
          <a:xfrm>
            <a:off x="1051560" y="2331720"/>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Script 2 reports a column as "perfectly confounded" with condition. Why can no choice of DESeq2 arguments fix this, and what is the only real fix?</a:t>
            </a:r>
            <a:endParaRPr lang="en-US" sz="1450" dirty="0"/>
          </a:p>
        </p:txBody>
      </p:sp>
      <p:sp>
        <p:nvSpPr>
          <p:cNvPr id="6" name="Text 4"/>
          <p:cNvSpPr/>
          <p:nvPr/>
        </p:nvSpPr>
        <p:spPr>
          <a:xfrm>
            <a:off x="548640" y="3227832"/>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2</a:t>
            </a:r>
            <a:endParaRPr lang="en-US" sz="2000" dirty="0"/>
          </a:p>
        </p:txBody>
      </p:sp>
      <p:sp>
        <p:nvSpPr>
          <p:cNvPr id="7" name="Text 5"/>
          <p:cNvSpPr/>
          <p:nvPr/>
        </p:nvSpPr>
        <p:spPr>
          <a:xfrm>
            <a:off x="1051560" y="3227832"/>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A gene has log2FoldChange = 3.2 but padj = 0.31. Another has log2FoldChange = 0.15 but padj = 0.001. Which, if either, belongs in your headline result — and why?</a:t>
            </a:r>
            <a:endParaRPr lang="en-US" sz="1450" dirty="0"/>
          </a:p>
        </p:txBody>
      </p:sp>
      <p:sp>
        <p:nvSpPr>
          <p:cNvPr id="8" name="Text 6"/>
          <p:cNvSpPr/>
          <p:nvPr/>
        </p:nvSpPr>
        <p:spPr>
          <a:xfrm>
            <a:off x="548640" y="4123944"/>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3</a:t>
            </a:r>
            <a:endParaRPr lang="en-US" sz="2000" dirty="0"/>
          </a:p>
        </p:txBody>
      </p:sp>
      <p:sp>
        <p:nvSpPr>
          <p:cNvPr id="9" name="Text 7"/>
          <p:cNvSpPr/>
          <p:nvPr/>
        </p:nvSpPr>
        <p:spPr>
          <a:xfrm>
            <a:off x="1051560" y="4123944"/>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Why does script 3’s filtering rule use the smallest condition group’s size instead of a fixed sample count like "at least 6 samples"?</a:t>
            </a:r>
            <a:endParaRPr lang="en-US" sz="1450" dirty="0"/>
          </a:p>
        </p:txBody>
      </p:sp>
      <p:sp>
        <p:nvSpPr>
          <p:cNvPr id="10" name="Text 8"/>
          <p:cNvSpPr/>
          <p:nvPr/>
        </p:nvSpPr>
        <p:spPr>
          <a:xfrm>
            <a:off x="548640" y="5020056"/>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4</a:t>
            </a:r>
            <a:endParaRPr lang="en-US" sz="2000" dirty="0"/>
          </a:p>
        </p:txBody>
      </p:sp>
      <p:sp>
        <p:nvSpPr>
          <p:cNvPr id="11" name="Text 9"/>
          <p:cNvSpPr/>
          <p:nvPr/>
        </p:nvSpPr>
        <p:spPr>
          <a:xfrm>
            <a:off x="1051560" y="5020056"/>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If you skipped script 5’s explicit relevel() and let the reference level default alphabetically, what specific, silent error could that introduce into your results table?</a:t>
            </a:r>
            <a:endParaRPr lang="en-US" sz="1450" dirty="0"/>
          </a:p>
        </p:txBody>
      </p:sp>
      <p:sp>
        <p:nvSpPr>
          <p:cNvPr id="12" name="Text 10"/>
          <p:cNvSpPr/>
          <p:nvPr/>
        </p:nvSpPr>
        <p:spPr>
          <a:xfrm>
            <a:off x="548640" y="5916168"/>
            <a:ext cx="457200" cy="777240"/>
          </a:xfrm>
          <a:prstGeom prst="rect">
            <a:avLst/>
          </a:prstGeom>
          <a:noFill/>
          <a:ln/>
        </p:spPr>
        <p:txBody>
          <a:bodyPr wrap="square" lIns="0" tIns="0" rIns="0" bIns="0" rtlCol="0" anchor="t"/>
          <a:lstStyle/>
          <a:p>
            <a:pPr indent="0" marL="0">
              <a:buNone/>
            </a:pPr>
            <a:r>
              <a:rPr lang="en-US" sz="2000" b="1" dirty="0">
                <a:solidFill>
                  <a:srgbClr val="4F98A3"/>
                </a:solidFill>
                <a:latin typeface="Trebuchet MS" pitchFamily="34" charset="0"/>
                <a:ea typeface="Trebuchet MS" pitchFamily="34" charset="-122"/>
                <a:cs typeface="Trebuchet MS" pitchFamily="34" charset="-120"/>
              </a:rPr>
              <a:t>5</a:t>
            </a:r>
            <a:endParaRPr lang="en-US" sz="2000" dirty="0"/>
          </a:p>
        </p:txBody>
      </p:sp>
      <p:sp>
        <p:nvSpPr>
          <p:cNvPr id="13" name="Text 11"/>
          <p:cNvSpPr/>
          <p:nvPr/>
        </p:nvSpPr>
        <p:spPr>
          <a:xfrm>
            <a:off x="1051560" y="5916168"/>
            <a:ext cx="10588752" cy="777240"/>
          </a:xfrm>
          <a:prstGeom prst="rect">
            <a:avLst/>
          </a:prstGeom>
          <a:noFill/>
          <a:ln/>
        </p:spPr>
        <p:txBody>
          <a:bodyPr wrap="square" lIns="0" tIns="0" rIns="0" bIns="0" rtlCol="0" anchor="t"/>
          <a:lstStyle/>
          <a:p>
            <a:pPr indent="0" marL="0">
              <a:lnSpc>
                <a:spcPct val="125000"/>
              </a:lnSpc>
              <a:buNone/>
            </a:pPr>
            <a:r>
              <a:rPr lang="en-US" sz="1450" dirty="0">
                <a:solidFill>
                  <a:srgbClr val="CDCCCA"/>
                </a:solidFill>
                <a:latin typeface="Calibri" pitchFamily="34" charset="0"/>
                <a:ea typeface="Calibri" pitchFamily="34" charset="-122"/>
                <a:cs typeface="Calibri" pitchFamily="34" charset="-120"/>
              </a:rPr>
              <a:t>Open a generated DE_REPORT.md: what would you need to know about the underlying biology, that no script could supply, to fill in Section 8 responsibly?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2026-09-02T14:12:30Z</dcterms:created>
  <dcterms:modified xsi:type="dcterms:W3CDTF">2026-09-02T14:12:30Z</dcterms:modified>
</cp:coreProperties>
</file>