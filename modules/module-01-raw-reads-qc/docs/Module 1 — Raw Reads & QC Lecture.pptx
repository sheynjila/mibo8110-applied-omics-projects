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Make explicit that FastQC ALONE never modifies data — it only reports. fastp is the tool that acts. Keeping that distinction sharp early prevents a very common student confusion later in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"measure before you trust it" instinct as the storage-safety module’s df/du checks — just applied to data integrity instead of disk space. Emphasize that the checksum step here is not decorative: it is what script 7 later cites as evidence the exact same file was used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moment to ask: "If we skipped vdb-validate entirely, how would we ever find out a download was bad?" The honest answer is often "only once FastQC or an aligner produces a strange result days later" — which is exactly the expensive-failure scenario this script prevents.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real WARN with the class and ask "what would make this WARN acceptable, and what would make it disqualifying?" before revealing the script’s printed guidance — the exercise matters more than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most worth returning to later in the course — the "same verdict, different correct response depending on context" lesson recurs in every subsequent module’s QC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fault-tolerant-loop pattern from the Storage-Safety module’s scripts 2-6, reapplied here to a QC context instead of a storage-guard context — point out to students that it is the SAME pattern, not a coincidence.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open multiqc_raw_batch.html and find one metric where the two real samples genuinely differ — this is a natural bridge into script 4’s point that trimming decisions should be justified per-sample, not applied identically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THRESHOLD_RATIONALE.md is the single most important new file this script produces — it is what turns "we trimmed the reads" into "we trimmed the reads because per-base quality WARNed in the last 12bp and adapter content FAILed, and here is the before/after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find one sample’s THRESHOLD_RATIONALE.md and try to argue, using ONLY the before/after FastQC evidence it cites, whether the trimming decision was actually justified — this is the exercise the eventual QC_REPORT.md Section 7 acceptance-criteria table asks them to repeat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this live if possible: a synthetic pair with matching counts but shuffled ID order passes the count check and FAILS the ID-order check — this was functionally smoke-tested this session and is the clearest way to make the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highest-value check in the whole module to internalize: ask students to describe, in their own words, a real scenario later in the course (e.g. independently quality-filtering each mate file) that could break pairing while leaving read counts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culmination slide of the whole module — good moment to have students actually open a generated QC_REPORT.md together and fill in Section 7’s acceptance table as a class exercise, the same way Module 0’s capstone slide used REPRODUCIBILITY_REFLECTION.md.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forward: every later module’s pipeline (RNA-seq, variant calling, AMR, metagenomics) starts from reads that have already passed through something like scripts 1-6 — this module is where that becomes an explicit, defensible step instead of an invisible prerequisite.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bridge slide. Explicitly tell students: nothing in this module is throwaway — QC_REPORT.md for these two samples is the artifact a grader will actually check before this module counts as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1371600"/>
            <a:ext cx="11091672" cy="365760"/>
          </a:xfrm>
          <a:prstGeom prst="rect">
            <a:avLst/>
          </a:prstGeom>
          <a:noFill/>
          <a:ln/>
        </p:spPr>
        <p:txBody>
          <a:bodyPr wrap="square" lIns="0" tIns="0" rIns="0" bIns="0" rtlCol="0" anchor="ctr"/>
          <a:lstStyle/>
          <a:p>
            <a:pPr indent="0" marL="0">
              <a:buNone/>
            </a:pPr>
            <a:r>
              <a:rPr lang="en-US" sz="1400" spc="200" kern="0" dirty="0">
                <a:solidFill>
                  <a:srgbClr val="4F98A3"/>
                </a:solidFill>
                <a:latin typeface="Calibri" pitchFamily="34" charset="0"/>
                <a:ea typeface="Calibri" pitchFamily="34" charset="-122"/>
                <a:cs typeface="Calibri" pitchFamily="34" charset="-120"/>
              </a:rPr>
              <a:t>MIBO8110  ·  MODULE 1: RAW SEQUENCING READS &amp; QUALITY CONTROL</a:t>
            </a:r>
            <a:endParaRPr lang="en-US" sz="1400" dirty="0"/>
          </a:p>
        </p:txBody>
      </p:sp>
      <p:sp>
        <p:nvSpPr>
          <p:cNvPr id="3" name="Text 1"/>
          <p:cNvSpPr/>
          <p:nvPr/>
        </p:nvSpPr>
        <p:spPr>
          <a:xfrm>
            <a:off x="548640" y="1920240"/>
            <a:ext cx="11091672" cy="118872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From a Downloaded Run to Reads You Can Trust</a:t>
            </a:r>
            <a:endParaRPr lang="en-US" sz="3800" dirty="0"/>
          </a:p>
        </p:txBody>
      </p:sp>
      <p:sp>
        <p:nvSpPr>
          <p:cNvPr id="4" name="Text 2"/>
          <p:cNvSpPr/>
          <p:nvPr/>
        </p:nvSpPr>
        <p:spPr>
          <a:xfrm>
            <a:off x="548640" y="3063240"/>
            <a:ext cx="9692640" cy="1371600"/>
          </a:xfrm>
          <a:prstGeom prst="rect">
            <a:avLst/>
          </a:prstGeom>
          <a:noFill/>
          <a:ln/>
        </p:spPr>
        <p:txBody>
          <a:bodyPr wrap="square" lIns="0" tIns="0" rIns="0" bIns="0" rtlCol="0" anchor="ctr"/>
          <a:lstStyle/>
          <a:p>
            <a:pPr indent="0" marL="0">
              <a:lnSpc>
                <a:spcPct val="130000"/>
              </a:lnSpc>
              <a:buNone/>
            </a:pPr>
            <a:r>
              <a:rPr lang="en-US" sz="1550" dirty="0">
                <a:solidFill>
                  <a:srgbClr val="797876"/>
                </a:solidFill>
                <a:latin typeface="Calibri" pitchFamily="34" charset="0"/>
                <a:ea typeface="Calibri" pitchFamily="34" charset="-122"/>
                <a:cs typeface="Calibri" pitchFamily="34" charset="-120"/>
              </a:rPr>
              <a:t>Every downstream analysis in this course — RNA-seq, variant calling, AMR, metagenomics — assumes its input reads are already clean. This lecture builds that assumption from scratch: fetch a real run, read its quality diagnostics correctly, decide what to trim (and what not to), and prove the mates are still paired before anything touches an aligner.</a:t>
            </a:r>
            <a:endParaRPr lang="en-US" sz="1550" dirty="0"/>
          </a:p>
        </p:txBody>
      </p:sp>
      <p:sp>
        <p:nvSpPr>
          <p:cNvPr id="5" name="Text 3"/>
          <p:cNvSpPr/>
          <p:nvPr/>
        </p:nvSpPr>
        <p:spPr>
          <a:xfrm>
            <a:off x="548640" y="5806440"/>
            <a:ext cx="11091672" cy="457200"/>
          </a:xfrm>
          <a:prstGeom prst="rect">
            <a:avLst/>
          </a:prstGeom>
          <a:noFill/>
          <a:ln/>
        </p:spPr>
        <p:txBody>
          <a:bodyPr wrap="square" lIns="0" tIns="0" rIns="0" bIns="0" rtlCol="0" anchor="ctr"/>
          <a:lstStyle/>
          <a:p>
            <a:pPr indent="0" marL="0">
              <a:buNone/>
            </a:pPr>
            <a:r>
              <a:rPr lang="en-US" sz="1200" dirty="0">
                <a:solidFill>
                  <a:srgbClr val="4F98A3"/>
                </a:solidFill>
                <a:latin typeface="Calibri" pitchFamily="34" charset="0"/>
                <a:ea typeface="Calibri" pitchFamily="34" charset="-122"/>
                <a:cs typeface="Calibri" pitchFamily="34" charset="-120"/>
              </a:rPr>
              <a:t>Fetch &amp; verify   ·   Diagnose before acting   ·   Evidence-based trimming   ·   Pairing integrity   ·   The QC report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502920"/>
            <a:ext cx="7315200" cy="640080"/>
          </a:xfrm>
          <a:prstGeom prst="rect">
            <a:avLst/>
          </a:prstGeom>
          <a:noFill/>
          <a:ln/>
        </p:spPr>
        <p:txBody>
          <a:bodyPr wrap="square" lIns="0" tIns="0" rIns="0" bIns="0" rtlCol="0" anchor="ctr"/>
          <a:lstStyle/>
          <a:p>
            <a:pPr indent="0" marL="0">
              <a:buNone/>
            </a:pPr>
            <a:r>
              <a:rPr lang="en-US" sz="3200" b="1" dirty="0">
                <a:solidFill>
                  <a:srgbClr val="28251D"/>
                </a:solidFill>
                <a:latin typeface="Trebuchet MS" pitchFamily="34" charset="0"/>
                <a:ea typeface="Trebuchet MS" pitchFamily="34" charset="-122"/>
                <a:cs typeface="Trebuchet MS" pitchFamily="34" charset="-120"/>
              </a:rPr>
              <a:t>Agenda</a:t>
            </a:r>
            <a:endParaRPr lang="en-US" sz="3200" dirty="0"/>
          </a:p>
        </p:txBody>
      </p:sp>
      <p:sp>
        <p:nvSpPr>
          <p:cNvPr id="3" name="Text 1"/>
          <p:cNvSpPr/>
          <p:nvPr/>
        </p:nvSpPr>
        <p:spPr>
          <a:xfrm>
            <a:off x="548640" y="141732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00</a:t>
            </a:r>
            <a:endParaRPr lang="en-US" sz="1800" dirty="0"/>
          </a:p>
        </p:txBody>
      </p:sp>
      <p:sp>
        <p:nvSpPr>
          <p:cNvPr id="4" name="Text 2"/>
          <p:cNvSpPr/>
          <p:nvPr/>
        </p:nvSpPr>
        <p:spPr>
          <a:xfrm>
            <a:off x="1115568" y="141732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Why This Module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The one habit every later module assumes you already have</a:t>
            </a:r>
            <a:endParaRPr lang="en-US" sz="1400" dirty="0"/>
          </a:p>
        </p:txBody>
      </p:sp>
      <p:sp>
        <p:nvSpPr>
          <p:cNvPr id="5" name="Text 3"/>
          <p:cNvSpPr/>
          <p:nvPr/>
        </p:nvSpPr>
        <p:spPr>
          <a:xfrm>
            <a:off x="548640" y="228600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01</a:t>
            </a:r>
            <a:endParaRPr lang="en-US" sz="1800" dirty="0"/>
          </a:p>
        </p:txBody>
      </p:sp>
      <p:sp>
        <p:nvSpPr>
          <p:cNvPr id="6" name="Text 4"/>
          <p:cNvSpPr/>
          <p:nvPr/>
        </p:nvSpPr>
        <p:spPr>
          <a:xfrm>
            <a:off x="1115568" y="228600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Fetch &amp; Verify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Getting a real run onto disk without trusting a partial download</a:t>
            </a:r>
            <a:endParaRPr lang="en-US" sz="1400" dirty="0"/>
          </a:p>
        </p:txBody>
      </p:sp>
      <p:sp>
        <p:nvSpPr>
          <p:cNvPr id="7" name="Text 5"/>
          <p:cNvSpPr/>
          <p:nvPr/>
        </p:nvSpPr>
        <p:spPr>
          <a:xfrm>
            <a:off x="548640" y="315468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02</a:t>
            </a:r>
            <a:endParaRPr lang="en-US" sz="1800" dirty="0"/>
          </a:p>
        </p:txBody>
      </p:sp>
      <p:sp>
        <p:nvSpPr>
          <p:cNvPr id="8" name="Text 6"/>
          <p:cNvSpPr/>
          <p:nvPr/>
        </p:nvSpPr>
        <p:spPr>
          <a:xfrm>
            <a:off x="1115568" y="315468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Reading FastQC Correctly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Interpreting the three most commonly misread diagnostics</a:t>
            </a:r>
            <a:endParaRPr lang="en-US" sz="1400" dirty="0"/>
          </a:p>
        </p:txBody>
      </p:sp>
      <p:sp>
        <p:nvSpPr>
          <p:cNvPr id="9" name="Text 7"/>
          <p:cNvSpPr/>
          <p:nvPr/>
        </p:nvSpPr>
        <p:spPr>
          <a:xfrm>
            <a:off x="548640" y="402336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03</a:t>
            </a:r>
            <a:endParaRPr lang="en-US" sz="1800" dirty="0"/>
          </a:p>
        </p:txBody>
      </p:sp>
      <p:sp>
        <p:nvSpPr>
          <p:cNvPr id="10" name="Text 8"/>
          <p:cNvSpPr/>
          <p:nvPr/>
        </p:nvSpPr>
        <p:spPr>
          <a:xfrm>
            <a:off x="1115568" y="402336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Scaling to a Batch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Fault-tolerant looping and one combined MultiQC view</a:t>
            </a:r>
            <a:endParaRPr lang="en-US" sz="1400" dirty="0"/>
          </a:p>
        </p:txBody>
      </p:sp>
      <p:sp>
        <p:nvSpPr>
          <p:cNvPr id="11" name="Text 9"/>
          <p:cNvSpPr/>
          <p:nvPr/>
        </p:nvSpPr>
        <p:spPr>
          <a:xfrm>
            <a:off x="6217920" y="141732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04</a:t>
            </a:r>
            <a:endParaRPr lang="en-US" sz="1800" dirty="0"/>
          </a:p>
        </p:txBody>
      </p:sp>
      <p:sp>
        <p:nvSpPr>
          <p:cNvPr id="12" name="Text 10"/>
          <p:cNvSpPr/>
          <p:nvPr/>
        </p:nvSpPr>
        <p:spPr>
          <a:xfrm>
            <a:off x="6784848" y="141732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Evidence-Based Trimming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Letting the diagnostics decide which fastp flags are justified</a:t>
            </a:r>
            <a:endParaRPr lang="en-US" sz="1400" dirty="0"/>
          </a:p>
        </p:txBody>
      </p:sp>
      <p:sp>
        <p:nvSpPr>
          <p:cNvPr id="13" name="Text 11"/>
          <p:cNvSpPr/>
          <p:nvPr/>
        </p:nvSpPr>
        <p:spPr>
          <a:xfrm>
            <a:off x="6217920" y="228600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05</a:t>
            </a:r>
            <a:endParaRPr lang="en-US" sz="1800" dirty="0"/>
          </a:p>
        </p:txBody>
      </p:sp>
      <p:sp>
        <p:nvSpPr>
          <p:cNvPr id="14" name="Text 12"/>
          <p:cNvSpPr/>
          <p:nvPr/>
        </p:nvSpPr>
        <p:spPr>
          <a:xfrm>
            <a:off x="6784848" y="228600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Paired-End Integrity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Why matching counts is not the same as matching pairs</a:t>
            </a:r>
            <a:endParaRPr lang="en-US" sz="1400" dirty="0"/>
          </a:p>
        </p:txBody>
      </p:sp>
      <p:sp>
        <p:nvSpPr>
          <p:cNvPr id="15" name="Text 13"/>
          <p:cNvSpPr/>
          <p:nvPr/>
        </p:nvSpPr>
        <p:spPr>
          <a:xfrm>
            <a:off x="6217920" y="315468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06</a:t>
            </a:r>
            <a:endParaRPr lang="en-US" sz="1800" dirty="0"/>
          </a:p>
        </p:txBody>
      </p:sp>
      <p:sp>
        <p:nvSpPr>
          <p:cNvPr id="16" name="Text 14"/>
          <p:cNvSpPr/>
          <p:nvPr/>
        </p:nvSpPr>
        <p:spPr>
          <a:xfrm>
            <a:off x="6784848" y="315468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The Integrated Pipeline &amp; Report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One reusable script, one portfolio artifact</a:t>
            </a:r>
            <a:endParaRPr lang="en-US" sz="1400" dirty="0"/>
          </a:p>
        </p:txBody>
      </p:sp>
      <p:sp>
        <p:nvSpPr>
          <p:cNvPr id="17" name="Text 15"/>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WHY THIS MODULE</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Every Later Pipeline Assumes This Step Already Happened</a:t>
            </a:r>
            <a:endParaRPr lang="en-US" sz="2700" dirty="0"/>
          </a:p>
        </p:txBody>
      </p:sp>
      <p:sp>
        <p:nvSpPr>
          <p:cNvPr id="4" name="Text 2"/>
          <p:cNvSpPr/>
          <p:nvPr/>
        </p:nvSpPr>
        <p:spPr>
          <a:xfrm>
            <a:off x="548640" y="1298448"/>
            <a:ext cx="11091672" cy="411480"/>
          </a:xfrm>
          <a:prstGeom prst="rect">
            <a:avLst/>
          </a:prstGeom>
          <a:noFill/>
          <a:ln/>
        </p:spPr>
        <p:txBody>
          <a:bodyPr wrap="square" lIns="0" tIns="0" rIns="0" bIns="0" rtlCol="0" anchor="ctr"/>
          <a:lstStyle/>
          <a:p>
            <a:pPr indent="0" marL="0">
              <a:buNone/>
            </a:pPr>
            <a:r>
              <a:rPr lang="en-US" sz="1350" i="1" dirty="0">
                <a:solidFill>
                  <a:srgbClr val="7A7974"/>
                </a:solidFill>
                <a:latin typeface="Calibri" pitchFamily="34" charset="0"/>
                <a:ea typeface="Calibri" pitchFamily="34" charset="-122"/>
                <a:cs typeface="Calibri" pitchFamily="34" charset="-120"/>
              </a:rPr>
              <a:t>Modules 2, 4, 6, and 7 all open with the same silent assumption: the FASTQ files handed to the aligner are already clean, correctly paired, and their quality is already understood. This module is where that assumption becomes an explicit, teachable, checkable step instead of something students absorb by osmosis.</a:t>
            </a:r>
            <a:endParaRPr lang="en-US" sz="1350" dirty="0"/>
          </a:p>
        </p:txBody>
      </p:sp>
      <p:sp>
        <p:nvSpPr>
          <p:cNvPr id="5" name="Shape 3"/>
          <p:cNvSpPr/>
          <p:nvPr/>
        </p:nvSpPr>
        <p:spPr>
          <a:xfrm>
            <a:off x="548640" y="1828800"/>
            <a:ext cx="11091672" cy="1286256"/>
          </a:xfrm>
          <a:prstGeom prst="rect">
            <a:avLst/>
          </a:prstGeom>
          <a:solidFill>
            <a:srgbClr val="FBFBF9"/>
          </a:solidFill>
          <a:ln w="9525">
            <a:solidFill>
              <a:srgbClr val="D4D1CA"/>
            </a:solidFill>
            <a:prstDash val="solid"/>
          </a:ln>
        </p:spPr>
      </p:sp>
      <p:sp>
        <p:nvSpPr>
          <p:cNvPr id="6" name="Text 4"/>
          <p:cNvSpPr/>
          <p:nvPr/>
        </p:nvSpPr>
        <p:spPr>
          <a:xfrm>
            <a:off x="804672" y="1828800"/>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gap this module closes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QC mechanics were already exercised inline inside other modules’ pipelines, but never packaged as its own standalone lesson. Students saw FastQC and fastp run, but not why specific flags were chosen, or how to tell a real pairing bug from a passing pipeline.</a:t>
            </a:r>
            <a:endParaRPr lang="en-US" sz="1350" dirty="0"/>
          </a:p>
        </p:txBody>
      </p:sp>
      <p:sp>
        <p:nvSpPr>
          <p:cNvPr id="7" name="Shape 5"/>
          <p:cNvSpPr/>
          <p:nvPr/>
        </p:nvSpPr>
        <p:spPr>
          <a:xfrm>
            <a:off x="548640" y="3343656"/>
            <a:ext cx="11091672" cy="1286256"/>
          </a:xfrm>
          <a:prstGeom prst="rect">
            <a:avLst/>
          </a:prstGeom>
          <a:solidFill>
            <a:srgbClr val="FBFBF9"/>
          </a:solidFill>
          <a:ln w="9525">
            <a:solidFill>
              <a:srgbClr val="D4D1CA"/>
            </a:solidFill>
            <a:prstDash val="solid"/>
          </a:ln>
        </p:spPr>
      </p:sp>
      <p:sp>
        <p:nvSpPr>
          <p:cNvPr id="8" name="Text 6"/>
          <p:cNvSpPr/>
          <p:nvPr/>
        </p:nvSpPr>
        <p:spPr>
          <a:xfrm>
            <a:off x="804672" y="3343656"/>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approach: diagnose, then decide, then verify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Each script below adds exactly one capability: fetch safely (1), read diagnostics correctly (2), scale to a batch (3), decide trimming from evidence rather than habit (4), and verify pairing survived every step (5) — then script 6 integrates all five, and script 7 turns the results into the required report.</a:t>
            </a:r>
            <a:endParaRPr lang="en-US" sz="1350" dirty="0"/>
          </a:p>
        </p:txBody>
      </p:sp>
      <p:sp>
        <p:nvSpPr>
          <p:cNvPr id="9" name="Shape 7"/>
          <p:cNvSpPr/>
          <p:nvPr/>
        </p:nvSpPr>
        <p:spPr>
          <a:xfrm>
            <a:off x="548640" y="4858512"/>
            <a:ext cx="11091672" cy="1286256"/>
          </a:xfrm>
          <a:prstGeom prst="rect">
            <a:avLst/>
          </a:prstGeom>
          <a:solidFill>
            <a:srgbClr val="FBFBF9"/>
          </a:solidFill>
          <a:ln w="9525">
            <a:solidFill>
              <a:srgbClr val="D4D1CA"/>
            </a:solidFill>
            <a:prstDash val="solid"/>
          </a:ln>
        </p:spPr>
      </p:sp>
      <p:sp>
        <p:nvSpPr>
          <p:cNvPr id="10" name="Text 8"/>
          <p:cNvSpPr/>
          <p:nvPr/>
        </p:nvSpPr>
        <p:spPr>
          <a:xfrm>
            <a:off x="804672" y="4858512"/>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payoff: this IS the portfolio artifact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curriculum’s Module 1 assessment asks for a QC report with data source, checksums, before/after diagnostics, trimming rationale, a command log, and acceptance criteria. Script 7 assembles that report directly from what scripts 1–6 produced — this lecture is the assignment, not a preview of it.</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01</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Fetch &amp; Verify</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Getting a real run onto disk without trusting a partial download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1</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Verify Before You Extract?</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prefetch can be interrupted by a network blip, a job timeout, or a full disk — and can leave a cache directory that LOOKS complete but is not. Running fasterq-dump against a silently incomplete cache produces FASTQ files that are truncated in ways that are easy to miss until much later, often after hours of downstream compute have already been spent on them.</a:t>
            </a:r>
            <a:endParaRPr lang="en-US" sz="1400" dirty="0"/>
          </a:p>
          <a:p>
            <a:pPr indent="0" marL="0">
              <a:lnSpc>
                <a:spcPct val="132000"/>
              </a:lnSpc>
              <a:buNone/>
            </a:pPr>
            <a:endParaRPr lang="en-US" sz="1400" dirty="0"/>
          </a:p>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vdb-validate checks the SRA cache’s internal structure and checksums BEFORE extraction — catching the problem while the fix is still cheap: delete the cache and re-run prefetch.</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prefetch: download the SRA-format cache for one accession</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vdb-validate: confirm the cache is structurally complete and consistent</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fasterq-dump: extract to paired FASTQ only after validation passes</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md5sum both mates and save the checksums — the first line of the eventual QC report</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1</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cache directory existing is not the same as a cache directory being complete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prefetch can be killed mid-transfer (job timeout, network drop) and leave a directory with the right name and some bytes in it. Only vdb-validate actually confirms structural completeness — file size alone is not a reliable signal.</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Checksums only prove a file didn’t change AFTER this point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An md5sum computed here is a baseline for future comparison, not proof the download was correct — that proof comes from vdb-validate passing before extraction. Both checks answer different questions and neither replaces the other.</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Extraction failure and download failure look similar but need different fixes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If fasterq-dump fails, first check whether vdb-validate actually passed — an extraction failure downstream of a validation failure is not a new bug, it is the same bug surfacing later and more expensively.</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02</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Reading FastQC Correctly</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Interpreting the three most commonly misread diagnostics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2</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Not Just Look at the Colors?</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FastQC’s HTML report is genuinely useful, but its PASS/WARN/FAIL colors are calibrated against generic thresholds — not against what actually matters for YOUR downstream use of the data. A WARN on Sequence Duplication Levels means something very different for a genome assembly (bad) than for RNA-seq (often expected, since real genes are expressed at wildly different levels).</a:t>
            </a:r>
            <a:endParaRPr lang="en-US" sz="1400" dirty="0"/>
          </a:p>
          <a:p>
            <a:pPr indent="0" marL="0">
              <a:lnSpc>
                <a:spcPct val="132000"/>
              </a:lnSpc>
              <a:buNone/>
            </a:pPr>
            <a:endParaRPr lang="en-US" sz="1400" dirty="0"/>
          </a:p>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This script parses FastQC’s own summary.txt programmatically and prints interpretation guidance for the three modules students most often misread.</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Run FastQC with --extract so summary.txt is available as plain text, not just inside a zip</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Parse the PASS/WARN/FAIL verdict for every module into a simple table</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Print specific interpretation guidance for per-base quality, adapter content, and duplication</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Treat the verdict as a prompt to look closer — never as the final answer by itself</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2</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Per-base quality WARN near the read END is often fine to trim away, not alarming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Sequencing chemistry degrades quality toward the 3’ end of most reads by physical necessity. A WARN concentrated in the last ~10-15 bases is a routine trimming candidate (script 4), not evidence of a bad run.</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Adapter Content WARN/FAIL is a real, specific instruction — not a generic "trim more"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It means detectable adapter sequence is present at measurable frequency in the reads. That specifically justifies enabling adapter trimming in fastp — it does not by itself justify also trimming for quality, which is a separate decision based on a separate module.</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Duplication-level FAIL means different things in different experiment types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High duplication is expected and fine in amplicon or targeted panel data, mildly expected in RNA-seq (highly expressed transcripts), and often a real problem in whole-genome sequencing (suggesting PCR over-amplification or low-complexity library prep). The same FAIL, three different correct responses.</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03</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Scaling to a Batch</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Fault-tolerant looping and one combined MultiQC view</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3</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Not Just Copy-Paste Script 1+2 Per Sample?</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This study has two real runs, SRR40359383 and SRR40359384 — and real studies routinely have dozens. Copy-pasting a per-sample script means one failed download silently stops you from ever noticing the OTHER samples never ran, and comparing ten separate FastQC HTML reports by eye does not scale.</a:t>
            </a:r>
            <a:endParaRPr lang="en-US" sz="1400" dirty="0"/>
          </a:p>
          <a:p>
            <a:pPr indent="0" marL="0">
              <a:lnSpc>
                <a:spcPct val="132000"/>
              </a:lnSpc>
              <a:buNone/>
            </a:pPr>
            <a:endParaRPr lang="en-US" sz="1400" dirty="0"/>
          </a:p>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This script loops fetch+FastQC over both accessions fault-tolerantly (one failure logs and continues, never kills the batch) and aggregates everything into one MultiQC report built for side-by-side comparison.</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Read accessions from a simple text list, one per line</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Wrap each sample’s fetch+FastQC in its own subshell with its own set -e</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On failure: log the accession to failed_downloads.txt and continue the loop</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Run MultiQC once over the whole qc_before/ directory and open multiqc_raw_batch.html to compare all samples</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3</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silent early exit hides every sample after the failure, not just the failed one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Without the subshell + own set -e pattern, one failed sample can trigger the outer script’s set -e and abort the entire loop — you would only ever see results for samples that happened to come before the failure.</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MultiQC aggregates what FastQC already computed — it does not re-run any analysis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If a sample’s FastQC step failed or was skipped, MultiQC will simply be missing that sample from the combined report with no separate error — always cross-check failed_downloads.txt against the MultiQC report’s sample list.</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comparison across samples is only meaningful if every sample was processed identically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Different FastQC versions, or a mix of trimmed and untrimmed reads accidentally combined into one qc_before/ report, will produce a confusing, apples-to-oranges MultiQC view — keep raw and trimmed reports in separate output directories, as this module does throughout.</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04</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Evidence-Based Trimming</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Letting the diagnostics decide which fastp flags are justified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4</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Not Just Run fastp With Its Defaults?</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fastp’s defaults are reasonable, but "reasonable defaults" is a different claim from "correct for THIS sample." This script inverts the usual order: it reads script 2’s FastQC summary.txt FIRST, and only enables a fastp flag when the corresponding diagnostic actually warranted it — then writes down exactly why, in plain language, for every sample.</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817474"/>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817474"/>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Read Adapter Content verdict → enable --detect_adapter_for_pe only if WARN/FAIL</a:t>
            </a:r>
            <a:endParaRPr lang="en-US" sz="1250" dirty="0"/>
          </a:p>
        </p:txBody>
      </p:sp>
      <p:sp>
        <p:nvSpPr>
          <p:cNvPr id="9" name="Text 7"/>
          <p:cNvSpPr/>
          <p:nvPr/>
        </p:nvSpPr>
        <p:spPr>
          <a:xfrm>
            <a:off x="5852160" y="2820010"/>
            <a:ext cx="457200" cy="817474"/>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2820010"/>
            <a:ext cx="5285232" cy="817474"/>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Read per-base quality verdict → enable quality-tail trimming only if WARN/FAIL</a:t>
            </a:r>
            <a:endParaRPr lang="en-US" sz="1250" dirty="0"/>
          </a:p>
        </p:txBody>
      </p:sp>
      <p:sp>
        <p:nvSpPr>
          <p:cNvPr id="11" name="Text 9"/>
          <p:cNvSpPr/>
          <p:nvPr/>
        </p:nvSpPr>
        <p:spPr>
          <a:xfrm>
            <a:off x="5852160" y="3692347"/>
            <a:ext cx="457200" cy="817474"/>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3692347"/>
            <a:ext cx="5285232" cy="817474"/>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Always enforce one unconditional floor: minimum 36bp read length after trimming</a:t>
            </a:r>
            <a:endParaRPr lang="en-US" sz="1250" dirty="0"/>
          </a:p>
        </p:txBody>
      </p:sp>
      <p:sp>
        <p:nvSpPr>
          <p:cNvPr id="13" name="Text 11"/>
          <p:cNvSpPr/>
          <p:nvPr/>
        </p:nvSpPr>
        <p:spPr>
          <a:xfrm>
            <a:off x="5852160" y="4564685"/>
            <a:ext cx="457200" cy="817474"/>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4564685"/>
            <a:ext cx="5285232" cy="817474"/>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Write THRESHOLD_RATIONALE.md stating exactly which flags fired and why, per sample</a:t>
            </a:r>
            <a:endParaRPr lang="en-US" sz="1250" dirty="0"/>
          </a:p>
        </p:txBody>
      </p:sp>
      <p:sp>
        <p:nvSpPr>
          <p:cNvPr id="15" name="Text 13"/>
          <p:cNvSpPr/>
          <p:nvPr/>
        </p:nvSpPr>
        <p:spPr>
          <a:xfrm>
            <a:off x="5852160" y="5437022"/>
            <a:ext cx="457200" cy="817474"/>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05</a:t>
            </a:r>
            <a:endParaRPr lang="en-US" sz="1600" dirty="0"/>
          </a:p>
        </p:txBody>
      </p:sp>
      <p:sp>
        <p:nvSpPr>
          <p:cNvPr id="16" name="Text 14"/>
          <p:cNvSpPr/>
          <p:nvPr/>
        </p:nvSpPr>
        <p:spPr>
          <a:xfrm>
            <a:off x="6355080" y="5437022"/>
            <a:ext cx="5285232" cy="817474"/>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Re-run FastQC on the trimmed output into qc_after/ — never assume trimming worked</a:t>
            </a:r>
            <a:endParaRPr lang="en-US" sz="1250" dirty="0"/>
          </a:p>
        </p:txBody>
      </p:sp>
      <p:sp>
        <p:nvSpPr>
          <p:cNvPr id="17" name="Text 15"/>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8" name="Text 16"/>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4</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Two samples from the same study can legitimately get different trimming flags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If SRR40359383 FAILs Adapter Content but SRR40359384 PASSes it, only the first sample should get adapter trimming enabled. Applying the same flags to both "for consistency" would mean trimming a sample that did not need it — discarding real, usable data for no reason.</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unconditional length floor is not evidence-based, and that is intentional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 36bp minimum protects every downstream aligner from unusably short reads regardless of what FastQC reported — it is a safety floor, not a diagnostic-driven decision, and the rationale file should describe it as such.</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Trimming is never allowed to be the last step — only re-QC’d output can be trusted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Skipping the post-trim FastQC run in qc_after/ means trusting that fastp worked exactly as intended, on faith. The whole point of this script’s design is that no step in this module is trusted without being re-measured afterward.</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05</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Paired-End Integrity</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Why matching counts is not the same as matching pairs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5</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Check Read IDs, Not Just Read Counts?</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Two mate files with the SAME number of reads look correctly paired at a glance — but count alone cannot detect a subtle and serious bug: if the two files were re-sorted or filtered independently of each other, read 1 in file A might no longer correspond to read 1 in file B. An aligner given desynchronized mates will still run, and will produce silently wrong alignments.</a:t>
            </a:r>
            <a:endParaRPr lang="en-US" sz="1400" dirty="0"/>
          </a:p>
          <a:p>
            <a:pPr indent="0" marL="0">
              <a:lnSpc>
                <a:spcPct val="132000"/>
              </a:lnSpc>
              <a:buNone/>
            </a:pPr>
            <a:endParaRPr lang="en-US" sz="1400" dirty="0"/>
          </a:p>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This script’s check_pair() function verifies BOTH conditions: matching counts AND matching read-ID order, for raw and trimmed reads alike.</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Count reads in each mate file — first check, catches truncation</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Extract read IDs (the @ header line) from both mates, strip the /1 or /2 or read-number suffix</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Compare the ID sequences directly, in order — second check, catches desynchronization</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Repeat both checks on the trimmed output, since trimming is exactly the kind of step that could break pairing if implemented carelessly</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5</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Text 2"/>
          <p:cNvSpPr/>
          <p:nvPr/>
        </p:nvSpPr>
        <p:spPr>
          <a:xfrm>
            <a:off x="548640" y="1298448"/>
            <a:ext cx="11091672" cy="365760"/>
          </a:xfrm>
          <a:prstGeom prst="rect">
            <a:avLst/>
          </a:prstGeom>
          <a:noFill/>
          <a:ln/>
        </p:spPr>
        <p:txBody>
          <a:bodyPr wrap="square" lIns="0" tIns="0" rIns="0" bIns="0" rtlCol="0" anchor="ctr"/>
          <a:lstStyle/>
          <a:p>
            <a:pPr indent="0" marL="0">
              <a:buNone/>
            </a:pPr>
            <a:r>
              <a:rPr lang="en-US" sz="1300" i="1" dirty="0">
                <a:solidFill>
                  <a:srgbClr val="7A7974"/>
                </a:solidFill>
                <a:latin typeface="Calibri" pitchFamily="34" charset="0"/>
                <a:ea typeface="Calibri" pitchFamily="34" charset="-122"/>
                <a:cs typeface="Calibri" pitchFamily="34" charset="-120"/>
              </a:rPr>
              <a:t>Both failure modes below were functionally smoke-tested against synthetic FASTQ fixtures this session.</a:t>
            </a:r>
            <a:endParaRPr lang="en-US" sz="1300" dirty="0"/>
          </a:p>
        </p:txBody>
      </p:sp>
      <p:sp>
        <p:nvSpPr>
          <p:cNvPr id="5" name="Shape 3"/>
          <p:cNvSpPr/>
          <p:nvPr/>
        </p:nvSpPr>
        <p:spPr>
          <a:xfrm>
            <a:off x="548640" y="1737360"/>
            <a:ext cx="11091672" cy="1347216"/>
          </a:xfrm>
          <a:prstGeom prst="rect">
            <a:avLst/>
          </a:prstGeom>
          <a:solidFill>
            <a:srgbClr val="FBFBF9"/>
          </a:solidFill>
          <a:ln w="9525">
            <a:solidFill>
              <a:srgbClr val="D4D1CA"/>
            </a:solidFill>
            <a:prstDash val="solid"/>
          </a:ln>
        </p:spPr>
      </p:sp>
      <p:sp>
        <p:nvSpPr>
          <p:cNvPr id="6" name="Text 4"/>
          <p:cNvSpPr/>
          <p:nvPr/>
        </p:nvSpPr>
        <p:spPr>
          <a:xfrm>
            <a:off x="804672" y="1737360"/>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Matching counts is a necessary condition, not a sufficient one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 read-count check alone would have passed a synthetic test case where mate files had identical counts but reordered read IDs — exactly the dangerous case this script exists to catch. Never treat count-matching as proof of correct pairing.</a:t>
            </a:r>
            <a:endParaRPr lang="en-US" sz="1350" dirty="0"/>
          </a:p>
        </p:txBody>
      </p:sp>
      <p:sp>
        <p:nvSpPr>
          <p:cNvPr id="7" name="Shape 5"/>
          <p:cNvSpPr/>
          <p:nvPr/>
        </p:nvSpPr>
        <p:spPr>
          <a:xfrm>
            <a:off x="548640" y="3267456"/>
            <a:ext cx="11091672" cy="1347216"/>
          </a:xfrm>
          <a:prstGeom prst="rect">
            <a:avLst/>
          </a:prstGeom>
          <a:solidFill>
            <a:srgbClr val="FBFBF9"/>
          </a:solidFill>
          <a:ln w="9525">
            <a:solidFill>
              <a:srgbClr val="D4D1CA"/>
            </a:solidFill>
            <a:prstDash val="solid"/>
          </a:ln>
        </p:spPr>
      </p:sp>
      <p:sp>
        <p:nvSpPr>
          <p:cNvPr id="8" name="Text 6"/>
          <p:cNvSpPr/>
          <p:nvPr/>
        </p:nvSpPr>
        <p:spPr>
          <a:xfrm>
            <a:off x="804672" y="3267456"/>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well-behaved tool (like fastp, run correctly) preserves pairing — but "should" is not "did"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fastp’s paired-end mode is designed to keep mates synchronized. This script verifies that design promise held for THIS run, on THIS data, rather than assuming it from the tool’s documentation.</a:t>
            </a:r>
            <a:endParaRPr lang="en-US" sz="1350" dirty="0"/>
          </a:p>
        </p:txBody>
      </p:sp>
      <p:sp>
        <p:nvSpPr>
          <p:cNvPr id="9" name="Shape 7"/>
          <p:cNvSpPr/>
          <p:nvPr/>
        </p:nvSpPr>
        <p:spPr>
          <a:xfrm>
            <a:off x="548640" y="4797552"/>
            <a:ext cx="11091672" cy="1347216"/>
          </a:xfrm>
          <a:prstGeom prst="rect">
            <a:avLst/>
          </a:prstGeom>
          <a:solidFill>
            <a:srgbClr val="FBFBF9"/>
          </a:solidFill>
          <a:ln w="9525">
            <a:solidFill>
              <a:srgbClr val="D4D1CA"/>
            </a:solidFill>
            <a:prstDash val="solid"/>
          </a:ln>
        </p:spPr>
      </p:sp>
      <p:sp>
        <p:nvSpPr>
          <p:cNvPr id="10" name="Text 8"/>
          <p:cNvSpPr/>
          <p:nvPr/>
        </p:nvSpPr>
        <p:spPr>
          <a:xfrm>
            <a:off x="804672" y="4797552"/>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read-ID suffix (/1, /2, or nothing) varies by SRA download method and must be normalized before comparing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Comparing raw header lines that differ only in a trailing /1 vs /2 suffix would flag every correctly paired read as a mismatch — the suffix must be stripped before the ID-order comparison, not before the count comparison.</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06</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The Integrated Pipeline &amp; Report</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One reusable script, one portfolio artifact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SCRIPTS 6 &amp; 7</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Integrate, and Why Auto-Generate the Report?</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Nothing in scripts 6 and 7 is a new technique — the lesson is that a standalone QC module needs ONE reusable entry point, not five scripts a student has to remember to run in order every time. Script 6 is the reusable qc_pipeline.sh this module’s previous "planned" stub explicitly called for. Script 7 then reads everything scripts 1-6 produced and assembles the exact report the curriculum requires — leaving only the genuinely human parts (acceptance judgment, reflection) blank.</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Script 6: loop scripts 1-5’s logic, fault-tolerantly, over every sample in SRR_LIST</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Script 6: regenerate combined before/after MultiQC reports across the whole batch</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Script 7 (login node): pull data source, checksums, QC verdicts, and rationale files into QC_REPORT.md</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Script 7: leave the acceptance-criteria table and three reflection questions blank, by design, for a human to complete</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SCRIPTS 6 &amp; 7</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Script 6 re-derives everything itself — it does not require scripts 1-5 to have been run first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That is a deliberate design choice: a reusable pipeline script should not assume a fragile prior state. But running scripts 1-5 first, once, is still the best way to actually learn what each stage is doing before trusting the integrated version.</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"missing" cell in QC_REPORT.md is informative, not a bug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Script 7 was functionally smoke-tested to correctly report "missing" for any sample lacking upstream data, rather than fabricating a placeholder value — a missing cell means "go run the missing step," not "the report generator is broken."</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report generator only reflects the evidence — it cannot judge acceptance for you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Sections 1-6 are auto-filled facts; Section 7’s PASS/FAIL table and Section 8’s reflection questions are intentionally left blank, because whether a given sample’s QC results are "good enough to align" is a judgment call the report can inform but not make.</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All Seven Scripts, Side by Side</a:t>
            </a:r>
            <a:endParaRPr lang="en-US" sz="2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5120640"/>
        </p:xfrm>
        <a:graphic>
          <a:graphicData uri="http://schemas.openxmlformats.org/drawingml/2006/table">
            <a:tbl>
              <a:tblPr/>
              <a:tblGrid>
                <a:gridCol w="2286000"/>
                <a:gridCol w="3657600"/>
                <a:gridCol w="1737360"/>
                <a:gridCol w="3410712"/>
              </a:tblGrid>
              <a:tr h="7315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Script</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New idea it adds</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Run as</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 NOT protect against</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r>
              <a:tr h="73152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1. Fetch &amp; verify</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Validate the cache before extracting</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Batch (sbatch)</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Whether the extracted reads are actually good quality — only that the download itself was complete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73152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2. Read FastQC</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Interpret verdicts, don’t just read colors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Batch (sbatch)</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Whether a WARN/FAIL is disqualifying — that depends on the downstream use case, not the tool</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73152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3. Batch &amp; MultiQC</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Fault-tolerant looping, combined view</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Batch (sbatch)</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Whether any one sample’s trimming decision is correct — it only aggregates diagnostics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73152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4. Evidence-based trim</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Diagnostics decide the flags used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Batch (sbatch)</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Pairing integrity — trimming must still be re-verified by script 5</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73152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5. Pairing integrity</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Check ID order, not just counts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Batch (sbatch)</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Biological correctness of the reads — only that the two mate files still correspond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73152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6 &amp; 7. Pipeline + report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One entry point, one assembled report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Batch + login node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The genuinely human judgment calls — those stay blank for a reason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bl>
          </a:graphicData>
        </a:graphic>
      </p:graphicFrame>
      <p:sp>
        <p:nvSpPr>
          <p:cNvPr id="4" name="Text 1"/>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5" name="Text 2"/>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WHERE THIS LEADS</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This Report Is the Input to Every Later Module</a:t>
            </a:r>
            <a:endParaRPr lang="en-US" sz="2700" dirty="0"/>
          </a:p>
        </p:txBody>
      </p:sp>
      <p:sp>
        <p:nvSpPr>
          <p:cNvPr id="4" name="Text 2"/>
          <p:cNvSpPr/>
          <p:nvPr/>
        </p:nvSpPr>
        <p:spPr>
          <a:xfrm>
            <a:off x="548640" y="1298448"/>
            <a:ext cx="11091672" cy="411480"/>
          </a:xfrm>
          <a:prstGeom prst="rect">
            <a:avLst/>
          </a:prstGeom>
          <a:noFill/>
          <a:ln/>
        </p:spPr>
        <p:txBody>
          <a:bodyPr wrap="square" lIns="0" tIns="0" rIns="0" bIns="0" rtlCol="0" anchor="ctr"/>
          <a:lstStyle/>
          <a:p>
            <a:pPr indent="0" marL="0">
              <a:buNone/>
            </a:pPr>
            <a:r>
              <a:rPr lang="en-US" sz="1350" i="1" dirty="0">
                <a:solidFill>
                  <a:srgbClr val="7A7974"/>
                </a:solidFill>
                <a:latin typeface="Calibri" pitchFamily="34" charset="0"/>
                <a:ea typeface="Calibri" pitchFamily="34" charset="-122"/>
                <a:cs typeface="Calibri" pitchFamily="34" charset="-120"/>
              </a:rPr>
              <a:t>Modules 2, 4, 6, and 7 all begin with reads that this module’s process was designed to produce — fetched, verified, diagnosed, evidence-trimmed, and pairing-checked. The habits here do not disappear once you move on; they become the unstated first step of every pipeline that follows.</a:t>
            </a:r>
            <a:endParaRPr lang="en-US" sz="1350" dirty="0"/>
          </a:p>
        </p:txBody>
      </p:sp>
      <p:sp>
        <p:nvSpPr>
          <p:cNvPr id="5" name="Shape 3"/>
          <p:cNvSpPr/>
          <p:nvPr/>
        </p:nvSpPr>
        <p:spPr>
          <a:xfrm>
            <a:off x="548640" y="1828800"/>
            <a:ext cx="11091672" cy="1286256"/>
          </a:xfrm>
          <a:prstGeom prst="rect">
            <a:avLst/>
          </a:prstGeom>
          <a:solidFill>
            <a:srgbClr val="FBFBF9"/>
          </a:solidFill>
          <a:ln w="9525">
            <a:solidFill>
              <a:srgbClr val="D4D1CA"/>
            </a:solidFill>
            <a:prstDash val="solid"/>
          </a:ln>
        </p:spPr>
      </p:sp>
      <p:sp>
        <p:nvSpPr>
          <p:cNvPr id="6" name="Text 4"/>
          <p:cNvSpPr/>
          <p:nvPr/>
        </p:nvSpPr>
        <p:spPr>
          <a:xfrm>
            <a:off x="804672" y="1828800"/>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Diagnose before you act, every time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same "read the evidence, then decide" logic in script 4 reappears any time a later module has to choose between two reasonable-sounding parameter settings — look for the evidence that would justify one choice over the other before defaulting to either.</a:t>
            </a:r>
            <a:endParaRPr lang="en-US" sz="1350" dirty="0"/>
          </a:p>
        </p:txBody>
      </p:sp>
      <p:sp>
        <p:nvSpPr>
          <p:cNvPr id="7" name="Shape 5"/>
          <p:cNvSpPr/>
          <p:nvPr/>
        </p:nvSpPr>
        <p:spPr>
          <a:xfrm>
            <a:off x="548640" y="3343656"/>
            <a:ext cx="11091672" cy="1286256"/>
          </a:xfrm>
          <a:prstGeom prst="rect">
            <a:avLst/>
          </a:prstGeom>
          <a:solidFill>
            <a:srgbClr val="FBFBF9"/>
          </a:solidFill>
          <a:ln w="9525">
            <a:solidFill>
              <a:srgbClr val="D4D1CA"/>
            </a:solidFill>
            <a:prstDash val="solid"/>
          </a:ln>
        </p:spPr>
      </p:sp>
      <p:sp>
        <p:nvSpPr>
          <p:cNvPr id="8" name="Text 6"/>
          <p:cNvSpPr/>
          <p:nvPr/>
        </p:nvSpPr>
        <p:spPr>
          <a:xfrm>
            <a:off x="804672" y="3343656"/>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pairing check belongs at every step that touches paired-end data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Alignment, variant calling, and any custom filtering step are all capable of desynchronizing mates the same way a careless trim could — script 5’s check_pair() logic is worth re-running after any new step you add to a paired-end pipeline.</a:t>
            </a:r>
            <a:endParaRPr lang="en-US" sz="1350" dirty="0"/>
          </a:p>
        </p:txBody>
      </p:sp>
      <p:sp>
        <p:nvSpPr>
          <p:cNvPr id="9" name="Shape 7"/>
          <p:cNvSpPr/>
          <p:nvPr/>
        </p:nvSpPr>
        <p:spPr>
          <a:xfrm>
            <a:off x="548640" y="4858512"/>
            <a:ext cx="11091672" cy="1286256"/>
          </a:xfrm>
          <a:prstGeom prst="rect">
            <a:avLst/>
          </a:prstGeom>
          <a:solidFill>
            <a:srgbClr val="FBFBF9"/>
          </a:solidFill>
          <a:ln w="9525">
            <a:solidFill>
              <a:srgbClr val="D4D1CA"/>
            </a:solidFill>
            <a:prstDash val="solid"/>
          </a:ln>
        </p:spPr>
      </p:sp>
      <p:sp>
        <p:nvSpPr>
          <p:cNvPr id="10" name="Text 8"/>
          <p:cNvSpPr/>
          <p:nvPr/>
        </p:nvSpPr>
        <p:spPr>
          <a:xfrm>
            <a:off x="804672" y="4858512"/>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QC report is a habit worth repeating at every module boundary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same structure — data source, checksums, before/after evidence, rationale, acceptance criteria, reflection — is worth adapting for the handoff between any two stages of a longer pipeline, not just at the very start.</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Raw Reads &amp; QC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822960"/>
            <a:ext cx="7315200" cy="365760"/>
          </a:xfrm>
          <a:prstGeom prst="rect">
            <a:avLst/>
          </a:prstGeom>
          <a:noFill/>
          <a:ln/>
        </p:spPr>
        <p:txBody>
          <a:bodyPr wrap="square" lIns="0" tIns="0" rIns="0" bIns="0" rtlCol="0" anchor="ctr"/>
          <a:lstStyle/>
          <a:p>
            <a:pPr indent="0" marL="0">
              <a:buNone/>
            </a:pPr>
            <a:r>
              <a:rPr lang="en-US" sz="1300" spc="200" kern="0" dirty="0">
                <a:solidFill>
                  <a:srgbClr val="4F98A3"/>
                </a:solidFill>
                <a:latin typeface="Calibri" pitchFamily="34" charset="0"/>
                <a:ea typeface="Calibri" pitchFamily="34" charset="-122"/>
                <a:cs typeface="Calibri" pitchFamily="34" charset="-120"/>
              </a:rPr>
              <a:t>DISCUSSION</a:t>
            </a:r>
            <a:endParaRPr lang="en-US" sz="1300" dirty="0"/>
          </a:p>
        </p:txBody>
      </p:sp>
      <p:sp>
        <p:nvSpPr>
          <p:cNvPr id="3" name="Text 1"/>
          <p:cNvSpPr/>
          <p:nvPr/>
        </p:nvSpPr>
        <p:spPr>
          <a:xfrm>
            <a:off x="548640" y="1234440"/>
            <a:ext cx="11091672" cy="731520"/>
          </a:xfrm>
          <a:prstGeom prst="rect">
            <a:avLst/>
          </a:prstGeom>
          <a:noFill/>
          <a:ln/>
        </p:spPr>
        <p:txBody>
          <a:bodyPr wrap="square" lIns="0" tIns="0" rIns="0" bIns="0" rtlCol="0" anchor="ctr"/>
          <a:lstStyle/>
          <a:p>
            <a:pPr indent="0" marL="0">
              <a:buNone/>
            </a:pPr>
            <a:r>
              <a:rPr lang="en-US" sz="3200" b="1" dirty="0">
                <a:solidFill>
                  <a:srgbClr val="CDCCCA"/>
                </a:solidFill>
                <a:latin typeface="Trebuchet MS" pitchFamily="34" charset="0"/>
                <a:ea typeface="Trebuchet MS" pitchFamily="34" charset="-122"/>
                <a:cs typeface="Trebuchet MS" pitchFamily="34" charset="-120"/>
              </a:rPr>
              <a:t>Questions to Take Into the Lab</a:t>
            </a:r>
            <a:endParaRPr lang="en-US" sz="3200" dirty="0"/>
          </a:p>
        </p:txBody>
      </p:sp>
      <p:sp>
        <p:nvSpPr>
          <p:cNvPr id="4" name="Text 2"/>
          <p:cNvSpPr/>
          <p:nvPr/>
        </p:nvSpPr>
        <p:spPr>
          <a:xfrm>
            <a:off x="548640" y="2331720"/>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1</a:t>
            </a:r>
            <a:endParaRPr lang="en-US" sz="2000" dirty="0"/>
          </a:p>
        </p:txBody>
      </p:sp>
      <p:sp>
        <p:nvSpPr>
          <p:cNvPr id="5" name="Text 3"/>
          <p:cNvSpPr/>
          <p:nvPr/>
        </p:nvSpPr>
        <p:spPr>
          <a:xfrm>
            <a:off x="1051560" y="2331720"/>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A sample WARNs on Sequence Duplication Levels. What is one experiment type where that WARN is expected and fine, and one where it would worry you — and why does the same verdict mean different things?</a:t>
            </a:r>
            <a:endParaRPr lang="en-US" sz="1450" dirty="0"/>
          </a:p>
        </p:txBody>
      </p:sp>
      <p:sp>
        <p:nvSpPr>
          <p:cNvPr id="6" name="Text 4"/>
          <p:cNvSpPr/>
          <p:nvPr/>
        </p:nvSpPr>
        <p:spPr>
          <a:xfrm>
            <a:off x="548640" y="3227832"/>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2</a:t>
            </a:r>
            <a:endParaRPr lang="en-US" sz="2000" dirty="0"/>
          </a:p>
        </p:txBody>
      </p:sp>
      <p:sp>
        <p:nvSpPr>
          <p:cNvPr id="7" name="Text 5"/>
          <p:cNvSpPr/>
          <p:nvPr/>
        </p:nvSpPr>
        <p:spPr>
          <a:xfrm>
            <a:off x="1051560" y="3227832"/>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Why does script 5 check read-ID order in addition to read counts? Describe a specific scenario where two mate files could have equal counts but broken pairing.</a:t>
            </a:r>
            <a:endParaRPr lang="en-US" sz="1450" dirty="0"/>
          </a:p>
        </p:txBody>
      </p:sp>
      <p:sp>
        <p:nvSpPr>
          <p:cNvPr id="8" name="Text 6"/>
          <p:cNvSpPr/>
          <p:nvPr/>
        </p:nvSpPr>
        <p:spPr>
          <a:xfrm>
            <a:off x="548640" y="4123944"/>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3</a:t>
            </a:r>
            <a:endParaRPr lang="en-US" sz="2000" dirty="0"/>
          </a:p>
        </p:txBody>
      </p:sp>
      <p:sp>
        <p:nvSpPr>
          <p:cNvPr id="9" name="Text 7"/>
          <p:cNvSpPr/>
          <p:nvPr/>
        </p:nvSpPr>
        <p:spPr>
          <a:xfrm>
            <a:off x="1051560" y="4123944"/>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Script 4 enables adapter trimming for one sample but not the other. Open both THRESHOLD_RATIONALE.md files: what exact evidence justified the difference?</a:t>
            </a:r>
            <a:endParaRPr lang="en-US" sz="1450" dirty="0"/>
          </a:p>
        </p:txBody>
      </p:sp>
      <p:sp>
        <p:nvSpPr>
          <p:cNvPr id="10" name="Text 8"/>
          <p:cNvSpPr/>
          <p:nvPr/>
        </p:nvSpPr>
        <p:spPr>
          <a:xfrm>
            <a:off x="548640" y="5020056"/>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4</a:t>
            </a:r>
            <a:endParaRPr lang="en-US" sz="2000" dirty="0"/>
          </a:p>
        </p:txBody>
      </p:sp>
      <p:sp>
        <p:nvSpPr>
          <p:cNvPr id="11" name="Text 9"/>
          <p:cNvSpPr/>
          <p:nvPr/>
        </p:nvSpPr>
        <p:spPr>
          <a:xfrm>
            <a:off x="1051560" y="5020056"/>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If you skipped the post-trim FastQC step in qc_after/ entirely, what specific failure mode would you no longer be able to detect?</a:t>
            </a:r>
            <a:endParaRPr lang="en-US" sz="1450" dirty="0"/>
          </a:p>
        </p:txBody>
      </p:sp>
      <p:sp>
        <p:nvSpPr>
          <p:cNvPr id="12" name="Text 10"/>
          <p:cNvSpPr/>
          <p:nvPr/>
        </p:nvSpPr>
        <p:spPr>
          <a:xfrm>
            <a:off x="548640" y="5916168"/>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5</a:t>
            </a:r>
            <a:endParaRPr lang="en-US" sz="2000" dirty="0"/>
          </a:p>
        </p:txBody>
      </p:sp>
      <p:sp>
        <p:nvSpPr>
          <p:cNvPr id="13" name="Text 11"/>
          <p:cNvSpPr/>
          <p:nvPr/>
        </p:nvSpPr>
        <p:spPr>
          <a:xfrm>
            <a:off x="1051560" y="5916168"/>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Open a generated QC_REPORT.md: which of its Section 8 reflection questions is hardest to answer honestly for these two real samples, and why?</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2026-09-02T13:17:38Z</dcterms:created>
  <dcterms:modified xsi:type="dcterms:W3CDTF">2026-09-02T13:17:38Z</dcterms:modified>
</cp:coreProperties>
</file>