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slide. Make explicit that this lecture assumes students have already seen (or are concurrently seeing) the Storage-Safety lecture’s scripts 1-6 — script 10 here literally calls script 5 and 6’s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difference between "installed" and "resolved" — conda env export captures what actually got installed after dependency resolution, which can differ from a hand-written wishlist once transitive dependencies are involved.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script’s own environment.yml is exactly the kind of file script 8 (next) will commit to version control — an environment spec that is never committed alongside the code that needs it is not actually reproducible, no matter how carefully it was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.gitignore mirrors this repository’s own root .gitignore categories — FASTQ/BAM/VCF/SRA files and Slurm logs are excluded so a multi-gigabyte data file can never accidentally bloat the Git history permanently.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good moment to demonstrate the git add -- '*.R' bug live if possible: it fails with "fatal: pathspec '*.R' did not match any files" and aborts silently — exactly the kind of trap that motivated the fix, mirroring the module’s recurring theme of measuring instead of assuming.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BEFORE trusting a downloaded file, and AGAIN after any step that rewrites it (trimming, alignment, variant calling) — the same "measure before and after" habit scripts 1-6 apply to read counts and resource usage, just applied to file structure this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"If a tool ran successfully on a corrupted file and produced a normal-looking report, how would you ever find out?" The answer is exactly this class of check — structural validation is often the ONLY thing standing between a silent data error and a wrong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exact shape every capstone pipeline in the rest of this course (AMR, RNA-seq, SNP calling, microbiome) already takes — this script just makes that shape explicit, at a small scale, for the first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culmination slide of the whole Module 0 sequence — good moment to have students actually open a generated REPRODUCIBILITY_REFLECTION.md and answer its four hand-written questions together as a class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bridge slide, mirroring the Storage-Safety lecture’s own closer. Explicitly tell students: this is the last purely "foundations" lecture — the next modules move into full domain pipelines, but every habit from Module 0 (both lectures) is still expected in that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614"/>
        </a:solidFill>
      </p:bgPr>
    </p:bg>
    <p:spTree>
      <p:nvGrpSpPr>
        <p:cNvPr id="1" name=""/>
        <p:cNvGrpSpPr/>
        <p:nvPr/>
      </p:nvGrpSpPr>
      <p:grpSpPr>
        <a:xfrm>
          <a:off x="0" y="0"/>
          <a:ext cx="0" cy="0"/>
          <a:chOff x="0" y="0"/>
          <a:chExt cx="0" cy="0"/>
        </a:xfrm>
      </p:grpSpPr>
      <p:sp>
        <p:nvSpPr>
          <p:cNvPr id="2" name="Text 0"/>
          <p:cNvSpPr/>
          <p:nvPr/>
        </p:nvSpPr>
        <p:spPr>
          <a:xfrm>
            <a:off x="548640" y="1371600"/>
            <a:ext cx="11091672" cy="365760"/>
          </a:xfrm>
          <a:prstGeom prst="rect">
            <a:avLst/>
          </a:prstGeom>
          <a:noFill/>
          <a:ln/>
        </p:spPr>
        <p:txBody>
          <a:bodyPr wrap="square" lIns="0" tIns="0" rIns="0" bIns="0" rtlCol="0" anchor="ctr"/>
          <a:lstStyle/>
          <a:p>
            <a:pPr indent="0" marL="0">
              <a:buNone/>
            </a:pPr>
            <a:r>
              <a:rPr lang="en-US" sz="1400" spc="200" kern="0" dirty="0">
                <a:solidFill>
                  <a:srgbClr val="4F98A3"/>
                </a:solidFill>
                <a:latin typeface="Calibri" pitchFamily="34" charset="0"/>
                <a:ea typeface="Calibri" pitchFamily="34" charset="-122"/>
                <a:cs typeface="Calibri" pitchFamily="34" charset="-120"/>
              </a:rPr>
              <a:t>MIBO8110  ·  MODULE 0: FOUNDATIONS &amp; REPRODUCIBILITY</a:t>
            </a:r>
            <a:endParaRPr lang="en-US" sz="1400" dirty="0"/>
          </a:p>
        </p:txBody>
      </p:sp>
      <p:sp>
        <p:nvSpPr>
          <p:cNvPr id="3" name="Text 1"/>
          <p:cNvSpPr/>
          <p:nvPr/>
        </p:nvSpPr>
        <p:spPr>
          <a:xfrm>
            <a:off x="548640" y="1920240"/>
            <a:ext cx="11091672" cy="1188720"/>
          </a:xfrm>
          <a:prstGeom prst="rect">
            <a:avLst/>
          </a:prstGeom>
          <a:noFill/>
          <a:ln/>
        </p:spPr>
        <p:txBody>
          <a:bodyPr wrap="square" lIns="0" tIns="0" rIns="0" bIns="0" rtlCol="0" anchor="ctr"/>
          <a:lstStyle/>
          <a:p>
            <a:pPr indent="0" marL="0">
              <a:buNone/>
            </a:pPr>
            <a:r>
              <a:rPr lang="en-US" sz="3800" b="1" dirty="0">
                <a:solidFill>
                  <a:srgbClr val="CDCCCA"/>
                </a:solidFill>
                <a:latin typeface="Trebuchet MS" pitchFamily="34" charset="0"/>
                <a:ea typeface="Trebuchet MS" pitchFamily="34" charset="-122"/>
                <a:cs typeface="Trebuchet MS" pitchFamily="34" charset="-120"/>
              </a:rPr>
              <a:t>From a Working Script to a Trustworthy Repository</a:t>
            </a:r>
            <a:endParaRPr lang="en-US" sz="3800" dirty="0"/>
          </a:p>
        </p:txBody>
      </p:sp>
      <p:sp>
        <p:nvSpPr>
          <p:cNvPr id="4" name="Text 2"/>
          <p:cNvSpPr/>
          <p:nvPr/>
        </p:nvSpPr>
        <p:spPr>
          <a:xfrm>
            <a:off x="548640" y="3063240"/>
            <a:ext cx="9692640" cy="1371600"/>
          </a:xfrm>
          <a:prstGeom prst="rect">
            <a:avLst/>
          </a:prstGeom>
          <a:noFill/>
          <a:ln/>
        </p:spPr>
        <p:txBody>
          <a:bodyPr wrap="square" lIns="0" tIns="0" rIns="0" bIns="0" rtlCol="0" anchor="ctr"/>
          <a:lstStyle/>
          <a:p>
            <a:pPr indent="0" marL="0">
              <a:lnSpc>
                <a:spcPct val="130000"/>
              </a:lnSpc>
              <a:buNone/>
            </a:pPr>
            <a:r>
              <a:rPr lang="en-US" sz="1550" dirty="0">
                <a:solidFill>
                  <a:srgbClr val="797876"/>
                </a:solidFill>
                <a:latin typeface="Calibri" pitchFamily="34" charset="0"/>
                <a:ea typeface="Calibri" pitchFamily="34" charset="-122"/>
                <a:cs typeface="Calibri" pitchFamily="34" charset="-120"/>
              </a:rPr>
              <a:t>Scripts 1-6 (the companion Storage-Safety lecture) made a batch pipeline survive running out of disk or memory. This lecture completes Module 0: pinning your software environment, versioning your code with Git, validating your file formats, and combining all of it into the single repository this module actually asks you to submit.</a:t>
            </a:r>
            <a:endParaRPr lang="en-US" sz="1550" dirty="0"/>
          </a:p>
        </p:txBody>
      </p:sp>
      <p:sp>
        <p:nvSpPr>
          <p:cNvPr id="5" name="Text 3"/>
          <p:cNvSpPr/>
          <p:nvPr/>
        </p:nvSpPr>
        <p:spPr>
          <a:xfrm>
            <a:off x="548640" y="5806440"/>
            <a:ext cx="11091672" cy="457200"/>
          </a:xfrm>
          <a:prstGeom prst="rect">
            <a:avLst/>
          </a:prstGeom>
          <a:noFill/>
          <a:ln/>
        </p:spPr>
        <p:txBody>
          <a:bodyPr wrap="square" lIns="0" tIns="0" rIns="0" bIns="0" rtlCol="0" anchor="ctr"/>
          <a:lstStyle/>
          <a:p>
            <a:pPr indent="0" marL="0">
              <a:buNone/>
            </a:pPr>
            <a:r>
              <a:rPr lang="en-US" sz="1200" dirty="0">
                <a:solidFill>
                  <a:srgbClr val="4F98A3"/>
                </a:solidFill>
                <a:latin typeface="Calibri" pitchFamily="34" charset="0"/>
                <a:ea typeface="Calibri" pitchFamily="34" charset="-122"/>
                <a:cs typeface="Calibri" pitchFamily="34" charset="-120"/>
              </a:rPr>
              <a:t>Environment specs   ·   Git version control   ·   File-format validation   ·   Integrated capstone &amp; reflection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502920"/>
            <a:ext cx="7315200" cy="640080"/>
          </a:xfrm>
          <a:prstGeom prst="rect">
            <a:avLst/>
          </a:prstGeom>
          <a:noFill/>
          <a:ln/>
        </p:spPr>
        <p:txBody>
          <a:bodyPr wrap="square" lIns="0" tIns="0" rIns="0" bIns="0" rtlCol="0" anchor="ctr"/>
          <a:lstStyle/>
          <a:p>
            <a:pPr indent="0" marL="0">
              <a:buNone/>
            </a:pPr>
            <a:r>
              <a:rPr lang="en-US" sz="3200" b="1" dirty="0">
                <a:solidFill>
                  <a:srgbClr val="28251D"/>
                </a:solidFill>
                <a:latin typeface="Trebuchet MS" pitchFamily="34" charset="0"/>
                <a:ea typeface="Trebuchet MS" pitchFamily="34" charset="-122"/>
                <a:cs typeface="Trebuchet MS" pitchFamily="34" charset="-120"/>
              </a:rPr>
              <a:t>Agenda</a:t>
            </a:r>
            <a:endParaRPr lang="en-US" sz="3200" dirty="0"/>
          </a:p>
        </p:txBody>
      </p:sp>
      <p:sp>
        <p:nvSpPr>
          <p:cNvPr id="3" name="Text 1"/>
          <p:cNvSpPr/>
          <p:nvPr/>
        </p:nvSpPr>
        <p:spPr>
          <a:xfrm>
            <a:off x="548640" y="1417320"/>
            <a:ext cx="548640" cy="795528"/>
          </a:xfrm>
          <a:prstGeom prst="rect">
            <a:avLst/>
          </a:prstGeom>
          <a:noFill/>
          <a:ln/>
        </p:spPr>
        <p:txBody>
          <a:bodyPr wrap="square" lIns="0" tIns="0" rIns="0" bIns="0" rtlCol="0" anchor="t"/>
          <a:lstStyle/>
          <a:p>
            <a:pPr indent="0" marL="0">
              <a:buNone/>
            </a:pPr>
            <a:r>
              <a:rPr lang="en-US" sz="1800" b="1" dirty="0">
                <a:solidFill>
                  <a:srgbClr val="01696F"/>
                </a:solidFill>
                <a:latin typeface="Trebuchet MS" pitchFamily="34" charset="0"/>
                <a:ea typeface="Trebuchet MS" pitchFamily="34" charset="-122"/>
                <a:cs typeface="Trebuchet MS" pitchFamily="34" charset="-120"/>
              </a:rPr>
              <a:t>00</a:t>
            </a:r>
            <a:endParaRPr lang="en-US" sz="1800" dirty="0"/>
          </a:p>
        </p:txBody>
      </p:sp>
      <p:sp>
        <p:nvSpPr>
          <p:cNvPr id="4" name="Text 2"/>
          <p:cNvSpPr/>
          <p:nvPr/>
        </p:nvSpPr>
        <p:spPr>
          <a:xfrm>
            <a:off x="1115568" y="1417320"/>
            <a:ext cx="4782312" cy="795528"/>
          </a:xfrm>
          <a:prstGeom prst="rect">
            <a:avLst/>
          </a:prstGeom>
          <a:noFill/>
          <a:ln/>
        </p:spPr>
        <p:txBody>
          <a:bodyPr wrap="square" lIns="0" tIns="0" rIns="0" bIns="0" rtlCol="0" anchor="t"/>
          <a:lstStyle/>
          <a:p>
            <a:pPr indent="0" marL="0">
              <a:lnSpc>
                <a:spcPct val="115000"/>
              </a:lnSpc>
              <a:buNone/>
            </a:pPr>
            <a:r>
              <a:rPr lang="en-US" sz="1400" b="1" dirty="0">
                <a:solidFill>
                  <a:srgbClr val="28251D"/>
                </a:solidFill>
                <a:latin typeface="Calibri" pitchFamily="34" charset="0"/>
                <a:ea typeface="Calibri" pitchFamily="34" charset="-122"/>
                <a:cs typeface="Calibri" pitchFamily="34" charset="-120"/>
              </a:rPr>
              <a:t xml:space="preserve">Why This Extension  </a:t>
            </a:r>
            <a:pPr indent="0" marL="0">
              <a:lnSpc>
                <a:spcPct val="115000"/>
              </a:lnSpc>
              <a:buNone/>
            </a:pPr>
            <a:r>
              <a:rPr lang="en-US" sz="1250" dirty="0">
                <a:solidFill>
                  <a:srgbClr val="7A7974"/>
                </a:solidFill>
                <a:latin typeface="Calibri" pitchFamily="34" charset="0"/>
                <a:ea typeface="Calibri" pitchFamily="34" charset="-122"/>
                <a:cs typeface="Calibri" pitchFamily="34" charset="-120"/>
              </a:rPr>
              <a:t>Closing the rest of Module 0’s curriculum scope</a:t>
            </a:r>
            <a:endParaRPr lang="en-US" sz="1400" dirty="0"/>
          </a:p>
        </p:txBody>
      </p:sp>
      <p:sp>
        <p:nvSpPr>
          <p:cNvPr id="5" name="Text 3"/>
          <p:cNvSpPr/>
          <p:nvPr/>
        </p:nvSpPr>
        <p:spPr>
          <a:xfrm>
            <a:off x="548640" y="2286000"/>
            <a:ext cx="548640" cy="795528"/>
          </a:xfrm>
          <a:prstGeom prst="rect">
            <a:avLst/>
          </a:prstGeom>
          <a:noFill/>
          <a:ln/>
        </p:spPr>
        <p:txBody>
          <a:bodyPr wrap="square" lIns="0" tIns="0" rIns="0" bIns="0" rtlCol="0" anchor="t"/>
          <a:lstStyle/>
          <a:p>
            <a:pPr indent="0" marL="0">
              <a:buNone/>
            </a:pPr>
            <a:r>
              <a:rPr lang="en-US" sz="1800" b="1" dirty="0">
                <a:solidFill>
                  <a:srgbClr val="01696F"/>
                </a:solidFill>
                <a:latin typeface="Trebuchet MS" pitchFamily="34" charset="0"/>
                <a:ea typeface="Trebuchet MS" pitchFamily="34" charset="-122"/>
                <a:cs typeface="Trebuchet MS" pitchFamily="34" charset="-120"/>
              </a:rPr>
              <a:t>01</a:t>
            </a:r>
            <a:endParaRPr lang="en-US" sz="1800" dirty="0"/>
          </a:p>
        </p:txBody>
      </p:sp>
      <p:sp>
        <p:nvSpPr>
          <p:cNvPr id="6" name="Text 4"/>
          <p:cNvSpPr/>
          <p:nvPr/>
        </p:nvSpPr>
        <p:spPr>
          <a:xfrm>
            <a:off x="1115568" y="2286000"/>
            <a:ext cx="4782312" cy="795528"/>
          </a:xfrm>
          <a:prstGeom prst="rect">
            <a:avLst/>
          </a:prstGeom>
          <a:noFill/>
          <a:ln/>
        </p:spPr>
        <p:txBody>
          <a:bodyPr wrap="square" lIns="0" tIns="0" rIns="0" bIns="0" rtlCol="0" anchor="t"/>
          <a:lstStyle/>
          <a:p>
            <a:pPr indent="0" marL="0">
              <a:lnSpc>
                <a:spcPct val="115000"/>
              </a:lnSpc>
              <a:buNone/>
            </a:pPr>
            <a:r>
              <a:rPr lang="en-US" sz="1400" b="1" dirty="0">
                <a:solidFill>
                  <a:srgbClr val="28251D"/>
                </a:solidFill>
                <a:latin typeface="Calibri" pitchFamily="34" charset="0"/>
                <a:ea typeface="Calibri" pitchFamily="34" charset="-122"/>
                <a:cs typeface="Calibri" pitchFamily="34" charset="-120"/>
              </a:rPr>
              <a:t xml:space="preserve">Environment Reproducibility  </a:t>
            </a:r>
            <a:pPr indent="0" marL="0">
              <a:lnSpc>
                <a:spcPct val="115000"/>
              </a:lnSpc>
              <a:buNone/>
            </a:pPr>
            <a:r>
              <a:rPr lang="en-US" sz="1250" dirty="0">
                <a:solidFill>
                  <a:srgbClr val="7A7974"/>
                </a:solidFill>
                <a:latin typeface="Calibri" pitchFamily="34" charset="0"/>
                <a:ea typeface="Calibri" pitchFamily="34" charset="-122"/>
                <a:cs typeface="Calibri" pitchFamily="34" charset="-120"/>
              </a:rPr>
              <a:t>Pinning your toolchain with Conda/Mamba</a:t>
            </a:r>
            <a:endParaRPr lang="en-US" sz="1400" dirty="0"/>
          </a:p>
        </p:txBody>
      </p:sp>
      <p:sp>
        <p:nvSpPr>
          <p:cNvPr id="7" name="Text 5"/>
          <p:cNvSpPr/>
          <p:nvPr/>
        </p:nvSpPr>
        <p:spPr>
          <a:xfrm>
            <a:off x="548640" y="3154680"/>
            <a:ext cx="548640" cy="795528"/>
          </a:xfrm>
          <a:prstGeom prst="rect">
            <a:avLst/>
          </a:prstGeom>
          <a:noFill/>
          <a:ln/>
        </p:spPr>
        <p:txBody>
          <a:bodyPr wrap="square" lIns="0" tIns="0" rIns="0" bIns="0" rtlCol="0" anchor="t"/>
          <a:lstStyle/>
          <a:p>
            <a:pPr indent="0" marL="0">
              <a:buNone/>
            </a:pPr>
            <a:r>
              <a:rPr lang="en-US" sz="1800" b="1" dirty="0">
                <a:solidFill>
                  <a:srgbClr val="01696F"/>
                </a:solidFill>
                <a:latin typeface="Trebuchet MS" pitchFamily="34" charset="0"/>
                <a:ea typeface="Trebuchet MS" pitchFamily="34" charset="-122"/>
                <a:cs typeface="Trebuchet MS" pitchFamily="34" charset="-120"/>
              </a:rPr>
              <a:t>02</a:t>
            </a:r>
            <a:endParaRPr lang="en-US" sz="1800" dirty="0"/>
          </a:p>
        </p:txBody>
      </p:sp>
      <p:sp>
        <p:nvSpPr>
          <p:cNvPr id="8" name="Text 6"/>
          <p:cNvSpPr/>
          <p:nvPr/>
        </p:nvSpPr>
        <p:spPr>
          <a:xfrm>
            <a:off x="1115568" y="3154680"/>
            <a:ext cx="4782312" cy="795528"/>
          </a:xfrm>
          <a:prstGeom prst="rect">
            <a:avLst/>
          </a:prstGeom>
          <a:noFill/>
          <a:ln/>
        </p:spPr>
        <p:txBody>
          <a:bodyPr wrap="square" lIns="0" tIns="0" rIns="0" bIns="0" rtlCol="0" anchor="t"/>
          <a:lstStyle/>
          <a:p>
            <a:pPr indent="0" marL="0">
              <a:lnSpc>
                <a:spcPct val="115000"/>
              </a:lnSpc>
              <a:buNone/>
            </a:pPr>
            <a:r>
              <a:rPr lang="en-US" sz="1400" b="1" dirty="0">
                <a:solidFill>
                  <a:srgbClr val="28251D"/>
                </a:solidFill>
                <a:latin typeface="Calibri" pitchFamily="34" charset="0"/>
                <a:ea typeface="Calibri" pitchFamily="34" charset="-122"/>
                <a:cs typeface="Calibri" pitchFamily="34" charset="-120"/>
              </a:rPr>
              <a:t xml:space="preserve">Git-Based Reproducibility  </a:t>
            </a:r>
            <a:pPr indent="0" marL="0">
              <a:lnSpc>
                <a:spcPct val="115000"/>
              </a:lnSpc>
              <a:buNone/>
            </a:pPr>
            <a:r>
              <a:rPr lang="en-US" sz="1250" dirty="0">
                <a:solidFill>
                  <a:srgbClr val="7A7974"/>
                </a:solidFill>
                <a:latin typeface="Calibri" pitchFamily="34" charset="0"/>
                <a:ea typeface="Calibri" pitchFamily="34" charset="-122"/>
                <a:cs typeface="Calibri" pitchFamily="34" charset="-120"/>
              </a:rPr>
              <a:t>Pinning your code with commit hashes</a:t>
            </a:r>
            <a:endParaRPr lang="en-US" sz="1400" dirty="0"/>
          </a:p>
        </p:txBody>
      </p:sp>
      <p:sp>
        <p:nvSpPr>
          <p:cNvPr id="9" name="Text 7"/>
          <p:cNvSpPr/>
          <p:nvPr/>
        </p:nvSpPr>
        <p:spPr>
          <a:xfrm>
            <a:off x="548640" y="4023360"/>
            <a:ext cx="548640" cy="795528"/>
          </a:xfrm>
          <a:prstGeom prst="rect">
            <a:avLst/>
          </a:prstGeom>
          <a:noFill/>
          <a:ln/>
        </p:spPr>
        <p:txBody>
          <a:bodyPr wrap="square" lIns="0" tIns="0" rIns="0" bIns="0" rtlCol="0" anchor="t"/>
          <a:lstStyle/>
          <a:p>
            <a:pPr indent="0" marL="0">
              <a:buNone/>
            </a:pPr>
            <a:r>
              <a:rPr lang="en-US" sz="1800" b="1" dirty="0">
                <a:solidFill>
                  <a:srgbClr val="01696F"/>
                </a:solidFill>
                <a:latin typeface="Trebuchet MS" pitchFamily="34" charset="0"/>
                <a:ea typeface="Trebuchet MS" pitchFamily="34" charset="-122"/>
                <a:cs typeface="Trebuchet MS" pitchFamily="34" charset="-120"/>
              </a:rPr>
              <a:t>03</a:t>
            </a:r>
            <a:endParaRPr lang="en-US" sz="1800" dirty="0"/>
          </a:p>
        </p:txBody>
      </p:sp>
      <p:sp>
        <p:nvSpPr>
          <p:cNvPr id="10" name="Text 8"/>
          <p:cNvSpPr/>
          <p:nvPr/>
        </p:nvSpPr>
        <p:spPr>
          <a:xfrm>
            <a:off x="1115568" y="4023360"/>
            <a:ext cx="4782312" cy="795528"/>
          </a:xfrm>
          <a:prstGeom prst="rect">
            <a:avLst/>
          </a:prstGeom>
          <a:noFill/>
          <a:ln/>
        </p:spPr>
        <p:txBody>
          <a:bodyPr wrap="square" lIns="0" tIns="0" rIns="0" bIns="0" rtlCol="0" anchor="t"/>
          <a:lstStyle/>
          <a:p>
            <a:pPr indent="0" marL="0">
              <a:lnSpc>
                <a:spcPct val="115000"/>
              </a:lnSpc>
              <a:buNone/>
            </a:pPr>
            <a:r>
              <a:rPr lang="en-US" sz="1400" b="1" dirty="0">
                <a:solidFill>
                  <a:srgbClr val="28251D"/>
                </a:solidFill>
                <a:latin typeface="Calibri" pitchFamily="34" charset="0"/>
                <a:ea typeface="Calibri" pitchFamily="34" charset="-122"/>
                <a:cs typeface="Calibri" pitchFamily="34" charset="-120"/>
              </a:rPr>
              <a:t xml:space="preserve">File-Format Validation  </a:t>
            </a:r>
            <a:pPr indent="0" marL="0">
              <a:lnSpc>
                <a:spcPct val="115000"/>
              </a:lnSpc>
              <a:buNone/>
            </a:pPr>
            <a:r>
              <a:rPr lang="en-US" sz="1250" dirty="0">
                <a:solidFill>
                  <a:srgbClr val="7A7974"/>
                </a:solidFill>
                <a:latin typeface="Calibri" pitchFamily="34" charset="0"/>
                <a:ea typeface="Calibri" pitchFamily="34" charset="-122"/>
                <a:cs typeface="Calibri" pitchFamily="34" charset="-120"/>
              </a:rPr>
              <a:t>Trusting data only after checking its structure</a:t>
            </a:r>
            <a:endParaRPr lang="en-US" sz="1400" dirty="0"/>
          </a:p>
        </p:txBody>
      </p:sp>
      <p:sp>
        <p:nvSpPr>
          <p:cNvPr id="11" name="Text 9"/>
          <p:cNvSpPr/>
          <p:nvPr/>
        </p:nvSpPr>
        <p:spPr>
          <a:xfrm>
            <a:off x="6217920" y="1417320"/>
            <a:ext cx="548640" cy="795528"/>
          </a:xfrm>
          <a:prstGeom prst="rect">
            <a:avLst/>
          </a:prstGeom>
          <a:noFill/>
          <a:ln/>
        </p:spPr>
        <p:txBody>
          <a:bodyPr wrap="square" lIns="0" tIns="0" rIns="0" bIns="0" rtlCol="0" anchor="t"/>
          <a:lstStyle/>
          <a:p>
            <a:pPr indent="0" marL="0">
              <a:buNone/>
            </a:pPr>
            <a:r>
              <a:rPr lang="en-US" sz="1800" b="1" dirty="0">
                <a:solidFill>
                  <a:srgbClr val="01696F"/>
                </a:solidFill>
                <a:latin typeface="Trebuchet MS" pitchFamily="34" charset="0"/>
                <a:ea typeface="Trebuchet MS" pitchFamily="34" charset="-122"/>
                <a:cs typeface="Trebuchet MS" pitchFamily="34" charset="-120"/>
              </a:rPr>
              <a:t>04</a:t>
            </a:r>
            <a:endParaRPr lang="en-US" sz="1800" dirty="0"/>
          </a:p>
        </p:txBody>
      </p:sp>
      <p:sp>
        <p:nvSpPr>
          <p:cNvPr id="12" name="Text 10"/>
          <p:cNvSpPr/>
          <p:nvPr/>
        </p:nvSpPr>
        <p:spPr>
          <a:xfrm>
            <a:off x="6784848" y="1417320"/>
            <a:ext cx="4782312" cy="795528"/>
          </a:xfrm>
          <a:prstGeom prst="rect">
            <a:avLst/>
          </a:prstGeom>
          <a:noFill/>
          <a:ln/>
        </p:spPr>
        <p:txBody>
          <a:bodyPr wrap="square" lIns="0" tIns="0" rIns="0" bIns="0" rtlCol="0" anchor="t"/>
          <a:lstStyle/>
          <a:p>
            <a:pPr indent="0" marL="0">
              <a:lnSpc>
                <a:spcPct val="115000"/>
              </a:lnSpc>
              <a:buNone/>
            </a:pPr>
            <a:r>
              <a:rPr lang="en-US" sz="1400" b="1" dirty="0">
                <a:solidFill>
                  <a:srgbClr val="28251D"/>
                </a:solidFill>
                <a:latin typeface="Calibri" pitchFamily="34" charset="0"/>
                <a:ea typeface="Calibri" pitchFamily="34" charset="-122"/>
                <a:cs typeface="Calibri" pitchFamily="34" charset="-120"/>
              </a:rPr>
              <a:t xml:space="preserve">The Integrated Capstone  </a:t>
            </a:r>
            <a:pPr indent="0" marL="0">
              <a:lnSpc>
                <a:spcPct val="115000"/>
              </a:lnSpc>
              <a:buNone/>
            </a:pPr>
            <a:r>
              <a:rPr lang="en-US" sz="1250" dirty="0">
                <a:solidFill>
                  <a:srgbClr val="7A7974"/>
                </a:solidFill>
                <a:latin typeface="Calibri" pitchFamily="34" charset="0"/>
                <a:ea typeface="Calibri" pitchFamily="34" charset="-122"/>
                <a:cs typeface="Calibri" pitchFamily="34" charset="-120"/>
              </a:rPr>
              <a:t>One run, five habits, one portfolio artifact</a:t>
            </a:r>
            <a:endParaRPr lang="en-US" sz="1400" dirty="0"/>
          </a:p>
        </p:txBody>
      </p:sp>
      <p:sp>
        <p:nvSpPr>
          <p:cNvPr id="13" name="Text 11"/>
          <p:cNvSpPr/>
          <p:nvPr/>
        </p:nvSpPr>
        <p:spPr>
          <a:xfrm>
            <a:off x="6217920" y="2286000"/>
            <a:ext cx="548640" cy="795528"/>
          </a:xfrm>
          <a:prstGeom prst="rect">
            <a:avLst/>
          </a:prstGeom>
          <a:noFill/>
          <a:ln/>
        </p:spPr>
        <p:txBody>
          <a:bodyPr wrap="square" lIns="0" tIns="0" rIns="0" bIns="0" rtlCol="0" anchor="t"/>
          <a:lstStyle/>
          <a:p>
            <a:pPr indent="0" marL="0">
              <a:buNone/>
            </a:pPr>
            <a:r>
              <a:rPr lang="en-US" sz="1800" b="1" dirty="0">
                <a:solidFill>
                  <a:srgbClr val="01696F"/>
                </a:solidFill>
                <a:latin typeface="Trebuchet MS" pitchFamily="34" charset="0"/>
                <a:ea typeface="Trebuchet MS" pitchFamily="34" charset="-122"/>
                <a:cs typeface="Trebuchet MS" pitchFamily="34" charset="-120"/>
              </a:rPr>
              <a:t>05</a:t>
            </a:r>
            <a:endParaRPr lang="en-US" sz="1800" dirty="0"/>
          </a:p>
        </p:txBody>
      </p:sp>
      <p:sp>
        <p:nvSpPr>
          <p:cNvPr id="14" name="Text 12"/>
          <p:cNvSpPr/>
          <p:nvPr/>
        </p:nvSpPr>
        <p:spPr>
          <a:xfrm>
            <a:off x="6784848" y="2286000"/>
            <a:ext cx="4782312" cy="795528"/>
          </a:xfrm>
          <a:prstGeom prst="rect">
            <a:avLst/>
          </a:prstGeom>
          <a:noFill/>
          <a:ln/>
        </p:spPr>
        <p:txBody>
          <a:bodyPr wrap="square" lIns="0" tIns="0" rIns="0" bIns="0" rtlCol="0" anchor="t"/>
          <a:lstStyle/>
          <a:p>
            <a:pPr indent="0" marL="0">
              <a:lnSpc>
                <a:spcPct val="115000"/>
              </a:lnSpc>
              <a:buNone/>
            </a:pPr>
            <a:r>
              <a:rPr lang="en-US" sz="1400" b="1" dirty="0">
                <a:solidFill>
                  <a:srgbClr val="28251D"/>
                </a:solidFill>
                <a:latin typeface="Calibri" pitchFamily="34" charset="0"/>
                <a:ea typeface="Calibri" pitchFamily="34" charset="-122"/>
                <a:cs typeface="Calibri" pitchFamily="34" charset="-120"/>
              </a:rPr>
              <a:t xml:space="preserve">Comparing All Four  </a:t>
            </a:r>
            <a:pPr indent="0" marL="0">
              <a:lnSpc>
                <a:spcPct val="115000"/>
              </a:lnSpc>
              <a:buNone/>
            </a:pPr>
            <a:r>
              <a:rPr lang="en-US" sz="1250" dirty="0">
                <a:solidFill>
                  <a:srgbClr val="7A7974"/>
                </a:solidFill>
                <a:latin typeface="Calibri" pitchFamily="34" charset="0"/>
                <a:ea typeface="Calibri" pitchFamily="34" charset="-122"/>
                <a:cs typeface="Calibri" pitchFamily="34" charset="-120"/>
              </a:rPr>
              <a:t>What each piece protects, and what it doesn’t</a:t>
            </a:r>
            <a:endParaRPr lang="en-US" sz="1400" dirty="0"/>
          </a:p>
        </p:txBody>
      </p:sp>
      <p:sp>
        <p:nvSpPr>
          <p:cNvPr id="15" name="Text 13"/>
          <p:cNvSpPr/>
          <p:nvPr/>
        </p:nvSpPr>
        <p:spPr>
          <a:xfrm>
            <a:off x="6217920" y="3154680"/>
            <a:ext cx="548640" cy="795528"/>
          </a:xfrm>
          <a:prstGeom prst="rect">
            <a:avLst/>
          </a:prstGeom>
          <a:noFill/>
          <a:ln/>
        </p:spPr>
        <p:txBody>
          <a:bodyPr wrap="square" lIns="0" tIns="0" rIns="0" bIns="0" rtlCol="0" anchor="t"/>
          <a:lstStyle/>
          <a:p>
            <a:pPr indent="0" marL="0">
              <a:buNone/>
            </a:pPr>
            <a:r>
              <a:rPr lang="en-US" sz="1800" b="1" dirty="0">
                <a:solidFill>
                  <a:srgbClr val="01696F"/>
                </a:solidFill>
                <a:latin typeface="Trebuchet MS" pitchFamily="34" charset="0"/>
                <a:ea typeface="Trebuchet MS" pitchFamily="34" charset="-122"/>
                <a:cs typeface="Trebuchet MS" pitchFamily="34" charset="-120"/>
              </a:rPr>
              <a:t>06</a:t>
            </a:r>
            <a:endParaRPr lang="en-US" sz="1800" dirty="0"/>
          </a:p>
        </p:txBody>
      </p:sp>
      <p:sp>
        <p:nvSpPr>
          <p:cNvPr id="16" name="Text 14"/>
          <p:cNvSpPr/>
          <p:nvPr/>
        </p:nvSpPr>
        <p:spPr>
          <a:xfrm>
            <a:off x="6784848" y="3154680"/>
            <a:ext cx="4782312" cy="795528"/>
          </a:xfrm>
          <a:prstGeom prst="rect">
            <a:avLst/>
          </a:prstGeom>
          <a:noFill/>
          <a:ln/>
        </p:spPr>
        <p:txBody>
          <a:bodyPr wrap="square" lIns="0" tIns="0" rIns="0" bIns="0" rtlCol="0" anchor="t"/>
          <a:lstStyle/>
          <a:p>
            <a:pPr indent="0" marL="0">
              <a:lnSpc>
                <a:spcPct val="115000"/>
              </a:lnSpc>
              <a:buNone/>
            </a:pPr>
            <a:r>
              <a:rPr lang="en-US" sz="1400" b="1" dirty="0">
                <a:solidFill>
                  <a:srgbClr val="28251D"/>
                </a:solidFill>
                <a:latin typeface="Calibri" pitchFamily="34" charset="0"/>
                <a:ea typeface="Calibri" pitchFamily="34" charset="-122"/>
                <a:cs typeface="Calibri" pitchFamily="34" charset="-120"/>
              </a:rPr>
              <a:t xml:space="preserve">Where This Leads  </a:t>
            </a:r>
            <a:pPr indent="0" marL="0">
              <a:lnSpc>
                <a:spcPct val="115000"/>
              </a:lnSpc>
              <a:buNone/>
            </a:pPr>
            <a:r>
              <a:rPr lang="en-US" sz="1250" dirty="0">
                <a:solidFill>
                  <a:srgbClr val="7A7974"/>
                </a:solidFill>
                <a:latin typeface="Calibri" pitchFamily="34" charset="0"/>
                <a:ea typeface="Calibri" pitchFamily="34" charset="-122"/>
                <a:cs typeface="Calibri" pitchFamily="34" charset="-120"/>
              </a:rPr>
              <a:t>The reproducibility reflection and what comes next</a:t>
            </a:r>
            <a:endParaRPr lang="en-US" sz="1400" dirty="0"/>
          </a:p>
        </p:txBody>
      </p:sp>
      <p:sp>
        <p:nvSpPr>
          <p:cNvPr id="17" name="Text 15"/>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Foundations &amp; Reproducibility Lecture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WHY THIS EXTENSION</a:t>
            </a:r>
            <a:endParaRPr lang="en-US" sz="1200" dirty="0"/>
          </a:p>
        </p:txBody>
      </p:sp>
      <p:sp>
        <p:nvSpPr>
          <p:cNvPr id="3" name="Text 1"/>
          <p:cNvSpPr/>
          <p:nvPr/>
        </p:nvSpPr>
        <p:spPr>
          <a:xfrm>
            <a:off x="548640" y="749808"/>
            <a:ext cx="11091672" cy="54864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Storage Safety Was Only Two of Six Pieces</a:t>
            </a:r>
            <a:endParaRPr lang="en-US" sz="2700" dirty="0"/>
          </a:p>
        </p:txBody>
      </p:sp>
      <p:sp>
        <p:nvSpPr>
          <p:cNvPr id="4" name="Text 2"/>
          <p:cNvSpPr/>
          <p:nvPr/>
        </p:nvSpPr>
        <p:spPr>
          <a:xfrm>
            <a:off x="548640" y="1298448"/>
            <a:ext cx="11091672" cy="411480"/>
          </a:xfrm>
          <a:prstGeom prst="rect">
            <a:avLst/>
          </a:prstGeom>
          <a:noFill/>
          <a:ln/>
        </p:spPr>
        <p:txBody>
          <a:bodyPr wrap="square" lIns="0" tIns="0" rIns="0" bIns="0" rtlCol="0" anchor="ctr"/>
          <a:lstStyle/>
          <a:p>
            <a:pPr indent="0" marL="0">
              <a:buNone/>
            </a:pPr>
            <a:r>
              <a:rPr lang="en-US" sz="1350" i="1" dirty="0">
                <a:solidFill>
                  <a:srgbClr val="7A7974"/>
                </a:solidFill>
                <a:latin typeface="Calibri" pitchFamily="34" charset="0"/>
                <a:ea typeface="Calibri" pitchFamily="34" charset="-122"/>
                <a:cs typeface="Calibri" pitchFamily="34" charset="-120"/>
              </a:rPr>
              <a:t>Module 0’s guiding question is: how do you make an analysis understandable, repeatable, portable, and auditable? Storage and memory guards answer "repeatable on THIS cluster." The pieces in this lecture answer the other three words.</a:t>
            </a:r>
            <a:endParaRPr lang="en-US" sz="1350" dirty="0"/>
          </a:p>
        </p:txBody>
      </p:sp>
      <p:sp>
        <p:nvSpPr>
          <p:cNvPr id="5" name="Shape 3"/>
          <p:cNvSpPr/>
          <p:nvPr/>
        </p:nvSpPr>
        <p:spPr>
          <a:xfrm>
            <a:off x="548640" y="1828800"/>
            <a:ext cx="11091672" cy="1286256"/>
          </a:xfrm>
          <a:prstGeom prst="rect">
            <a:avLst/>
          </a:prstGeom>
          <a:solidFill>
            <a:srgbClr val="FBFBF9"/>
          </a:solidFill>
          <a:ln w="9525">
            <a:solidFill>
              <a:srgbClr val="D4D1CA"/>
            </a:solidFill>
            <a:prstDash val="solid"/>
          </a:ln>
        </p:spPr>
      </p:sp>
      <p:sp>
        <p:nvSpPr>
          <p:cNvPr id="6" name="Text 4"/>
          <p:cNvSpPr/>
          <p:nvPr/>
        </p:nvSpPr>
        <p:spPr>
          <a:xfrm>
            <a:off x="804672" y="1828800"/>
            <a:ext cx="10579608" cy="128625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The gap this lecture closes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The companion Storage-Safety lecture covers compute environments (storage, memory) and one form of responsible practice (validate before trusting). The curriculum also requires environment specification (Conda/Mamba), Git version control, and file-format literacy — none of which script 1-6 touch.</a:t>
            </a:r>
            <a:endParaRPr lang="en-US" sz="1350" dirty="0"/>
          </a:p>
        </p:txBody>
      </p:sp>
      <p:sp>
        <p:nvSpPr>
          <p:cNvPr id="7" name="Shape 5"/>
          <p:cNvSpPr/>
          <p:nvPr/>
        </p:nvSpPr>
        <p:spPr>
          <a:xfrm>
            <a:off x="548640" y="3343656"/>
            <a:ext cx="11091672" cy="1286256"/>
          </a:xfrm>
          <a:prstGeom prst="rect">
            <a:avLst/>
          </a:prstGeom>
          <a:solidFill>
            <a:srgbClr val="FBFBF9"/>
          </a:solidFill>
          <a:ln w="9525">
            <a:solidFill>
              <a:srgbClr val="D4D1CA"/>
            </a:solidFill>
            <a:prstDash val="solid"/>
          </a:ln>
        </p:spPr>
      </p:sp>
      <p:sp>
        <p:nvSpPr>
          <p:cNvPr id="8" name="Text 6"/>
          <p:cNvSpPr/>
          <p:nvPr/>
        </p:nvSpPr>
        <p:spPr>
          <a:xfrm>
            <a:off x="804672" y="3343656"/>
            <a:ext cx="10579608" cy="128625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The approach: same discipline, new resources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Exactly like the five-script storage progression, each new script here adds ONE capability: pin the toolchain (script 7), pin the code (script 8), validate the data shape (script 9), then integrate everything into one artifact (script 10).</a:t>
            </a:r>
            <a:endParaRPr lang="en-US" sz="1350" dirty="0"/>
          </a:p>
        </p:txBody>
      </p:sp>
      <p:sp>
        <p:nvSpPr>
          <p:cNvPr id="9" name="Shape 7"/>
          <p:cNvSpPr/>
          <p:nvPr/>
        </p:nvSpPr>
        <p:spPr>
          <a:xfrm>
            <a:off x="548640" y="4858512"/>
            <a:ext cx="11091672" cy="1286256"/>
          </a:xfrm>
          <a:prstGeom prst="rect">
            <a:avLst/>
          </a:prstGeom>
          <a:solidFill>
            <a:srgbClr val="FBFBF9"/>
          </a:solidFill>
          <a:ln w="9525">
            <a:solidFill>
              <a:srgbClr val="D4D1CA"/>
            </a:solidFill>
            <a:prstDash val="solid"/>
          </a:ln>
        </p:spPr>
      </p:sp>
      <p:sp>
        <p:nvSpPr>
          <p:cNvPr id="10" name="Text 8"/>
          <p:cNvSpPr/>
          <p:nvPr/>
        </p:nvSpPr>
        <p:spPr>
          <a:xfrm>
            <a:off x="804672" y="4858512"/>
            <a:ext cx="10579608" cy="128625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The payoff: this IS the portfolio artifact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The curriculum’s Module 0 assessment asks for exactly one thing: a repository with a pipeline, an environment spec, a README, input checks, a log, outputs, and a reproducibility reflection. Script 10 produces that artifact directly — this lecture is not a side topic, it is the assignment.</a:t>
            </a:r>
            <a:endParaRPr lang="en-US" sz="1350" dirty="0"/>
          </a:p>
        </p:txBody>
      </p:sp>
      <p:sp>
        <p:nvSpPr>
          <p:cNvPr id="11" name="Text 9"/>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Foundations &amp; Reproducibility Lecture</a:t>
            </a:r>
            <a:endParaRPr lang="en-US" sz="1000" dirty="0"/>
          </a:p>
        </p:txBody>
      </p:sp>
      <p:sp>
        <p:nvSpPr>
          <p:cNvPr id="12" name="Text 10"/>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71614"/>
        </a:solidFill>
      </p:bgPr>
    </p:bg>
    <p:spTree>
      <p:nvGrpSpPr>
        <p:cNvPr id="1" name=""/>
        <p:cNvGrpSpPr/>
        <p:nvPr/>
      </p:nvGrpSpPr>
      <p:grpSpPr>
        <a:xfrm>
          <a:off x="0" y="0"/>
          <a:ext cx="0" cy="0"/>
          <a:chOff x="0" y="0"/>
          <a:chExt cx="0" cy="0"/>
        </a:xfrm>
      </p:grpSpPr>
      <p:sp>
        <p:nvSpPr>
          <p:cNvPr id="2" name="Text 0"/>
          <p:cNvSpPr/>
          <p:nvPr/>
        </p:nvSpPr>
        <p:spPr>
          <a:xfrm>
            <a:off x="548640" y="2286000"/>
            <a:ext cx="2743200" cy="1371600"/>
          </a:xfrm>
          <a:prstGeom prst="rect">
            <a:avLst/>
          </a:prstGeom>
          <a:noFill/>
          <a:ln/>
        </p:spPr>
        <p:txBody>
          <a:bodyPr wrap="square" lIns="0" tIns="0" rIns="0" bIns="0" rtlCol="0" anchor="ctr"/>
          <a:lstStyle/>
          <a:p>
            <a:pPr indent="0" marL="0">
              <a:buNone/>
            </a:pPr>
            <a:r>
              <a:rPr lang="en-US" sz="9600" b="1" dirty="0">
                <a:solidFill>
                  <a:srgbClr val="4F98A3"/>
                </a:solidFill>
                <a:latin typeface="Trebuchet MS" pitchFamily="34" charset="0"/>
                <a:ea typeface="Trebuchet MS" pitchFamily="34" charset="-122"/>
                <a:cs typeface="Trebuchet MS" pitchFamily="34" charset="-120"/>
              </a:rPr>
              <a:t>01</a:t>
            </a:r>
            <a:endParaRPr lang="en-US" sz="9600" dirty="0"/>
          </a:p>
        </p:txBody>
      </p:sp>
      <p:sp>
        <p:nvSpPr>
          <p:cNvPr id="3" name="Text 1"/>
          <p:cNvSpPr/>
          <p:nvPr/>
        </p:nvSpPr>
        <p:spPr>
          <a:xfrm>
            <a:off x="548640" y="3794760"/>
            <a:ext cx="11091672" cy="822960"/>
          </a:xfrm>
          <a:prstGeom prst="rect">
            <a:avLst/>
          </a:prstGeom>
          <a:noFill/>
          <a:ln/>
        </p:spPr>
        <p:txBody>
          <a:bodyPr wrap="square" lIns="0" tIns="0" rIns="0" bIns="0" rtlCol="0" anchor="ctr"/>
          <a:lstStyle/>
          <a:p>
            <a:pPr indent="0" marL="0">
              <a:buNone/>
            </a:pPr>
            <a:r>
              <a:rPr lang="en-US" sz="3800" b="1" dirty="0">
                <a:solidFill>
                  <a:srgbClr val="CDCCCA"/>
                </a:solidFill>
                <a:latin typeface="Trebuchet MS" pitchFamily="34" charset="0"/>
                <a:ea typeface="Trebuchet MS" pitchFamily="34" charset="-122"/>
                <a:cs typeface="Trebuchet MS" pitchFamily="34" charset="-120"/>
              </a:rPr>
              <a:t>Environment Reproducibility</a:t>
            </a:r>
            <a:endParaRPr lang="en-US" sz="3800" dirty="0"/>
          </a:p>
        </p:txBody>
      </p:sp>
      <p:sp>
        <p:nvSpPr>
          <p:cNvPr id="4" name="Text 2"/>
          <p:cNvSpPr/>
          <p:nvPr/>
        </p:nvSpPr>
        <p:spPr>
          <a:xfrm>
            <a:off x="548640" y="4526280"/>
            <a:ext cx="9144000" cy="548640"/>
          </a:xfrm>
          <a:prstGeom prst="rect">
            <a:avLst/>
          </a:prstGeom>
          <a:noFill/>
          <a:ln/>
        </p:spPr>
        <p:txBody>
          <a:bodyPr wrap="square" lIns="0" tIns="0" rIns="0" bIns="0" rtlCol="0" anchor="ctr"/>
          <a:lstStyle/>
          <a:p>
            <a:pPr indent="0" marL="0">
              <a:buNone/>
            </a:pPr>
            <a:r>
              <a:rPr lang="en-US" sz="1600" dirty="0">
                <a:solidFill>
                  <a:srgbClr val="797876"/>
                </a:solidFill>
                <a:latin typeface="Calibri" pitchFamily="34" charset="0"/>
                <a:ea typeface="Calibri" pitchFamily="34" charset="-122"/>
                <a:cs typeface="Calibri" pitchFamily="34" charset="-120"/>
              </a:rPr>
              <a:t>Pinning your toolchain with Conda/Mamba</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SCRIPT 7</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Why Isn’t "module load" Enough?</a:t>
            </a:r>
            <a:endParaRPr lang="en-US" sz="2700" dirty="0"/>
          </a:p>
        </p:txBody>
      </p:sp>
      <p:sp>
        <p:nvSpPr>
          <p:cNvPr id="4" name="Text 2"/>
          <p:cNvSpPr/>
          <p:nvPr/>
        </p:nvSpPr>
        <p:spPr>
          <a:xfrm>
            <a:off x="548640" y="1600200"/>
            <a:ext cx="4846320" cy="274320"/>
          </a:xfrm>
          <a:prstGeom prst="rect">
            <a:avLst/>
          </a:prstGeom>
          <a:noFill/>
          <a:ln/>
        </p:spPr>
        <p:txBody>
          <a:bodyPr wrap="square" lIns="0" tIns="0" rIns="0" bIns="0" rtlCol="0" anchor="ctr"/>
          <a:lstStyle/>
          <a:p>
            <a:pPr indent="0" marL="0">
              <a:buNone/>
            </a:pPr>
            <a:r>
              <a:rPr lang="en-US" sz="1200" b="1" spc="100" kern="0" dirty="0">
                <a:solidFill>
                  <a:srgbClr val="7A7974"/>
                </a:solidFill>
                <a:latin typeface="Calibri" pitchFamily="34" charset="0"/>
                <a:ea typeface="Calibri" pitchFamily="34" charset="-122"/>
                <a:cs typeface="Calibri" pitchFamily="34" charset="-120"/>
              </a:rPr>
              <a:t>WHY THIS ANALYSIS</a:t>
            </a:r>
            <a:endParaRPr lang="en-US" sz="1200" dirty="0"/>
          </a:p>
        </p:txBody>
      </p:sp>
      <p:sp>
        <p:nvSpPr>
          <p:cNvPr id="5" name="Text 3"/>
          <p:cNvSpPr/>
          <p:nvPr/>
        </p:nvSpPr>
        <p:spPr>
          <a:xfrm>
            <a:off x="548640" y="1947672"/>
            <a:ext cx="4846320" cy="4361688"/>
          </a:xfrm>
          <a:prstGeom prst="rect">
            <a:avLst/>
          </a:prstGeom>
          <a:noFill/>
          <a:ln/>
        </p:spPr>
        <p:txBody>
          <a:bodyPr wrap="square" lIns="0" tIns="0" rIns="0" bIns="0" rtlCol="0" anchor="t"/>
          <a:lstStyle/>
          <a:p>
            <a:pPr indent="0" marL="0">
              <a:lnSpc>
                <a:spcPct val="132000"/>
              </a:lnSpc>
              <a:buNone/>
            </a:pPr>
            <a:r>
              <a:rPr lang="en-US" sz="1400" dirty="0">
                <a:solidFill>
                  <a:srgbClr val="28251D"/>
                </a:solidFill>
                <a:latin typeface="Calibri" pitchFamily="34" charset="0"/>
                <a:ea typeface="Calibri" pitchFamily="34" charset="-122"/>
                <a:cs typeface="Calibri" pitchFamily="34" charset="-120"/>
              </a:rPr>
              <a:t>Every script so far has relied on this cluster’s module system: module load SAMtools/1.16.1-GCC-11.3.0 reproducibly gives you that exact version — but only on clusters that happen to host that exact module. A labmate on a different center’s cluster, a cloud VM, or their own laptop has no "module" command at all.</a:t>
            </a:r>
            <a:endParaRPr lang="en-US" sz="1400" dirty="0"/>
          </a:p>
          <a:p>
            <a:pPr indent="0" marL="0">
              <a:lnSpc>
                <a:spcPct val="132000"/>
              </a:lnSpc>
              <a:buNone/>
            </a:pPr>
            <a:endParaRPr lang="en-US" sz="1400" dirty="0"/>
          </a:p>
          <a:p>
            <a:pPr indent="0" marL="0">
              <a:lnSpc>
                <a:spcPct val="132000"/>
              </a:lnSpc>
              <a:buNone/>
            </a:pPr>
            <a:r>
              <a:rPr lang="en-US" sz="1400" dirty="0">
                <a:solidFill>
                  <a:srgbClr val="28251D"/>
                </a:solidFill>
                <a:latin typeface="Calibri" pitchFamily="34" charset="0"/>
                <a:ea typeface="Calibri" pitchFamily="34" charset="-122"/>
                <a:cs typeface="Calibri" pitchFamily="34" charset="-120"/>
              </a:rPr>
              <a:t>Conda/Mamba environments fix this: environment.yml is a portable, version-pinned recipe that recreates the SAME toolchain anywhere Conda or Mamba is installed, cluster or not.</a:t>
            </a:r>
            <a:endParaRPr lang="en-US" sz="1400" dirty="0"/>
          </a:p>
        </p:txBody>
      </p:sp>
      <p:sp>
        <p:nvSpPr>
          <p:cNvPr id="6" name="Text 4"/>
          <p:cNvSpPr/>
          <p:nvPr/>
        </p:nvSpPr>
        <p:spPr>
          <a:xfrm>
            <a:off x="5852160" y="1600200"/>
            <a:ext cx="5788152" cy="274320"/>
          </a:xfrm>
          <a:prstGeom prst="rect">
            <a:avLst/>
          </a:prstGeom>
          <a:noFill/>
          <a:ln/>
        </p:spPr>
        <p:txBody>
          <a:bodyPr wrap="square" lIns="0" tIns="0" rIns="0" bIns="0" rtlCol="0" anchor="ctr"/>
          <a:lstStyle/>
          <a:p>
            <a:pPr indent="0" marL="0">
              <a:buNone/>
            </a:pPr>
            <a:r>
              <a:rPr lang="en-US" sz="1200" b="1" spc="100" kern="0" dirty="0">
                <a:solidFill>
                  <a:srgbClr val="7A7974"/>
                </a:solidFill>
                <a:latin typeface="Calibri" pitchFamily="34" charset="0"/>
                <a:ea typeface="Calibri" pitchFamily="34" charset="-122"/>
                <a:cs typeface="Calibri" pitchFamily="34" charset="-120"/>
              </a:rPr>
              <a:t>CORE WORKFLOW</a:t>
            </a:r>
            <a:endParaRPr lang="en-US" sz="1200" dirty="0"/>
          </a:p>
        </p:txBody>
      </p:sp>
      <p:sp>
        <p:nvSpPr>
          <p:cNvPr id="7" name="Text 5"/>
          <p:cNvSpPr/>
          <p:nvPr/>
        </p:nvSpPr>
        <p:spPr>
          <a:xfrm>
            <a:off x="5852160" y="1947672"/>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01</a:t>
            </a:r>
            <a:endParaRPr lang="en-US" sz="1600" dirty="0"/>
          </a:p>
        </p:txBody>
      </p:sp>
      <p:sp>
        <p:nvSpPr>
          <p:cNvPr id="8" name="Text 6"/>
          <p:cNvSpPr/>
          <p:nvPr/>
        </p:nvSpPr>
        <p:spPr>
          <a:xfrm>
            <a:off x="6355080" y="1947672"/>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export: snapshot the ACTUAL resolved environment, not just what you meant to install</a:t>
            </a:r>
            <a:endParaRPr lang="en-US" sz="1250" dirty="0"/>
          </a:p>
        </p:txBody>
      </p:sp>
      <p:sp>
        <p:nvSpPr>
          <p:cNvPr id="9" name="Text 7"/>
          <p:cNvSpPr/>
          <p:nvPr/>
        </p:nvSpPr>
        <p:spPr>
          <a:xfrm>
            <a:off x="5852160" y="3038094"/>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02</a:t>
            </a:r>
            <a:endParaRPr lang="en-US" sz="1600" dirty="0"/>
          </a:p>
        </p:txBody>
      </p:sp>
      <p:sp>
        <p:nvSpPr>
          <p:cNvPr id="10" name="Text 8"/>
          <p:cNvSpPr/>
          <p:nvPr/>
        </p:nvSpPr>
        <p:spPr>
          <a:xfrm>
            <a:off x="6355080" y="3038094"/>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create: build a new environment from a version-pinned environment.yml</a:t>
            </a:r>
            <a:endParaRPr lang="en-US" sz="1250" dirty="0"/>
          </a:p>
        </p:txBody>
      </p:sp>
      <p:sp>
        <p:nvSpPr>
          <p:cNvPr id="11" name="Text 9"/>
          <p:cNvSpPr/>
          <p:nvPr/>
        </p:nvSpPr>
        <p:spPr>
          <a:xfrm>
            <a:off x="5852160" y="4128516"/>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03</a:t>
            </a:r>
            <a:endParaRPr lang="en-US" sz="1600" dirty="0"/>
          </a:p>
        </p:txBody>
      </p:sp>
      <p:sp>
        <p:nvSpPr>
          <p:cNvPr id="12" name="Text 10"/>
          <p:cNvSpPr/>
          <p:nvPr/>
        </p:nvSpPr>
        <p:spPr>
          <a:xfrm>
            <a:off x="6355080" y="4128516"/>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verify: confirm the active environment’s tool versions match what the file promises</a:t>
            </a:r>
            <a:endParaRPr lang="en-US" sz="1250" dirty="0"/>
          </a:p>
        </p:txBody>
      </p:sp>
      <p:sp>
        <p:nvSpPr>
          <p:cNvPr id="13" name="Text 11"/>
          <p:cNvSpPr/>
          <p:nvPr/>
        </p:nvSpPr>
        <p:spPr>
          <a:xfrm>
            <a:off x="5852160" y="5218938"/>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04</a:t>
            </a:r>
            <a:endParaRPr lang="en-US" sz="1600" dirty="0"/>
          </a:p>
        </p:txBody>
      </p:sp>
      <p:sp>
        <p:nvSpPr>
          <p:cNvPr id="14" name="Text 12"/>
          <p:cNvSpPr/>
          <p:nvPr/>
        </p:nvSpPr>
        <p:spPr>
          <a:xfrm>
            <a:off x="6355080" y="5218938"/>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Every tool version is pinned exactly (e.g. samtools=1.16.1), never left to drift</a:t>
            </a:r>
            <a:endParaRPr lang="en-US" sz="1250" dirty="0"/>
          </a:p>
        </p:txBody>
      </p:sp>
      <p:sp>
        <p:nvSpPr>
          <p:cNvPr id="15" name="Text 13"/>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Foundations &amp; Reproducibility Lecture</a:t>
            </a:r>
            <a:endParaRPr lang="en-US" sz="1000" dirty="0"/>
          </a:p>
        </p:txBody>
      </p:sp>
      <p:sp>
        <p:nvSpPr>
          <p:cNvPr id="16" name="Text 14"/>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SCRIPT 7</a:t>
            </a:r>
            <a:endParaRPr lang="en-US" sz="1200" dirty="0"/>
          </a:p>
        </p:txBody>
      </p:sp>
      <p:sp>
        <p:nvSpPr>
          <p:cNvPr id="3" name="Text 1"/>
          <p:cNvSpPr/>
          <p:nvPr/>
        </p:nvSpPr>
        <p:spPr>
          <a:xfrm>
            <a:off x="548640" y="749808"/>
            <a:ext cx="11091672" cy="54864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Nuances &amp; Pitfalls</a:t>
            </a:r>
            <a:endParaRPr lang="en-US" sz="2700" dirty="0"/>
          </a:p>
        </p:txBody>
      </p:sp>
      <p:sp>
        <p:nvSpPr>
          <p:cNvPr id="4" name="Shape 2"/>
          <p:cNvSpPr/>
          <p:nvPr/>
        </p:nvSpPr>
        <p:spPr>
          <a:xfrm>
            <a:off x="548640" y="1371600"/>
            <a:ext cx="11091672" cy="1469136"/>
          </a:xfrm>
          <a:prstGeom prst="rect">
            <a:avLst/>
          </a:prstGeom>
          <a:solidFill>
            <a:srgbClr val="FBFBF9"/>
          </a:solidFill>
          <a:ln w="9525">
            <a:solidFill>
              <a:srgbClr val="D4D1CA"/>
            </a:solidFill>
            <a:prstDash val="solid"/>
          </a:ln>
        </p:spPr>
      </p:sp>
      <p:sp>
        <p:nvSpPr>
          <p:cNvPr id="5" name="Text 3"/>
          <p:cNvSpPr/>
          <p:nvPr/>
        </p:nvSpPr>
        <p:spPr>
          <a:xfrm>
            <a:off x="804672" y="1371600"/>
            <a:ext cx="10579608" cy="146913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module load and Conda answer different questions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A cluster module is reproducible only ON THAT CLUSTER. environment.yml is reproducible on any machine with Conda/Mamba. Well-built HPC pipelines typically use both: modules for cluster-provided compilers/MPI, Conda for the bioinformatics toolchain itself.</a:t>
            </a:r>
            <a:endParaRPr lang="en-US" sz="1350" dirty="0"/>
          </a:p>
        </p:txBody>
      </p:sp>
      <p:sp>
        <p:nvSpPr>
          <p:cNvPr id="6" name="Shape 4"/>
          <p:cNvSpPr/>
          <p:nvPr/>
        </p:nvSpPr>
        <p:spPr>
          <a:xfrm>
            <a:off x="548640" y="3023616"/>
            <a:ext cx="11091672" cy="1469136"/>
          </a:xfrm>
          <a:prstGeom prst="rect">
            <a:avLst/>
          </a:prstGeom>
          <a:solidFill>
            <a:srgbClr val="FBFBF9"/>
          </a:solidFill>
          <a:ln w="9525">
            <a:solidFill>
              <a:srgbClr val="D4D1CA"/>
            </a:solidFill>
            <a:prstDash val="solid"/>
          </a:ln>
        </p:spPr>
      </p:sp>
      <p:sp>
        <p:nvSpPr>
          <p:cNvPr id="7" name="Text 5"/>
          <p:cNvSpPr/>
          <p:nvPr/>
        </p:nvSpPr>
        <p:spPr>
          <a:xfrm>
            <a:off x="804672" y="3023616"/>
            <a:ext cx="10579608" cy="146913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Unpinned package names silently drift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Writing "samtools" instead of "samtools=1.16.1" lets the resolved version change every time the environment is rebuilt — quietly defeating the entire point of writing an environment.yml in the first place.</a:t>
            </a:r>
            <a:endParaRPr lang="en-US" sz="1350" dirty="0"/>
          </a:p>
        </p:txBody>
      </p:sp>
      <p:sp>
        <p:nvSpPr>
          <p:cNvPr id="8" name="Shape 6"/>
          <p:cNvSpPr/>
          <p:nvPr/>
        </p:nvSpPr>
        <p:spPr>
          <a:xfrm>
            <a:off x="548640" y="4675632"/>
            <a:ext cx="11091672" cy="1469136"/>
          </a:xfrm>
          <a:prstGeom prst="rect">
            <a:avLst/>
          </a:prstGeom>
          <a:solidFill>
            <a:srgbClr val="FBFBF9"/>
          </a:solidFill>
          <a:ln w="9525">
            <a:solidFill>
              <a:srgbClr val="D4D1CA"/>
            </a:solidFill>
            <a:prstDash val="solid"/>
          </a:ln>
        </p:spPr>
      </p:sp>
      <p:sp>
        <p:nvSpPr>
          <p:cNvPr id="9" name="Text 7"/>
          <p:cNvSpPr/>
          <p:nvPr/>
        </p:nvSpPr>
        <p:spPr>
          <a:xfrm>
            <a:off x="804672" y="4675632"/>
            <a:ext cx="10579608" cy="146913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conda env export needs --no-builds for portability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Without it, the file embeds OS/build-specific hashes that can fail to resolve on a different operating system or architecture. --no-builds trades a little precision for a lot more portability — the right trade for a shared teaching environment.</a:t>
            </a:r>
            <a:endParaRPr lang="en-US" sz="1350" dirty="0"/>
          </a:p>
        </p:txBody>
      </p:sp>
      <p:sp>
        <p:nvSpPr>
          <p:cNvPr id="10" name="Text 8"/>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Foundations &amp; Reproducibility Lecture</a:t>
            </a:r>
            <a:endParaRPr lang="en-US" sz="1000" dirty="0"/>
          </a:p>
        </p:txBody>
      </p:sp>
      <p:sp>
        <p:nvSpPr>
          <p:cNvPr id="11" name="Text 9"/>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71614"/>
        </a:solidFill>
      </p:bgPr>
    </p:bg>
    <p:spTree>
      <p:nvGrpSpPr>
        <p:cNvPr id="1" name=""/>
        <p:cNvGrpSpPr/>
        <p:nvPr/>
      </p:nvGrpSpPr>
      <p:grpSpPr>
        <a:xfrm>
          <a:off x="0" y="0"/>
          <a:ext cx="0" cy="0"/>
          <a:chOff x="0" y="0"/>
          <a:chExt cx="0" cy="0"/>
        </a:xfrm>
      </p:grpSpPr>
      <p:sp>
        <p:nvSpPr>
          <p:cNvPr id="2" name="Text 0"/>
          <p:cNvSpPr/>
          <p:nvPr/>
        </p:nvSpPr>
        <p:spPr>
          <a:xfrm>
            <a:off x="548640" y="2286000"/>
            <a:ext cx="2743200" cy="1371600"/>
          </a:xfrm>
          <a:prstGeom prst="rect">
            <a:avLst/>
          </a:prstGeom>
          <a:noFill/>
          <a:ln/>
        </p:spPr>
        <p:txBody>
          <a:bodyPr wrap="square" lIns="0" tIns="0" rIns="0" bIns="0" rtlCol="0" anchor="ctr"/>
          <a:lstStyle/>
          <a:p>
            <a:pPr indent="0" marL="0">
              <a:buNone/>
            </a:pPr>
            <a:r>
              <a:rPr lang="en-US" sz="9600" b="1" dirty="0">
                <a:solidFill>
                  <a:srgbClr val="4F98A3"/>
                </a:solidFill>
                <a:latin typeface="Trebuchet MS" pitchFamily="34" charset="0"/>
                <a:ea typeface="Trebuchet MS" pitchFamily="34" charset="-122"/>
                <a:cs typeface="Trebuchet MS" pitchFamily="34" charset="-120"/>
              </a:rPr>
              <a:t>02</a:t>
            </a:r>
            <a:endParaRPr lang="en-US" sz="9600" dirty="0"/>
          </a:p>
        </p:txBody>
      </p:sp>
      <p:sp>
        <p:nvSpPr>
          <p:cNvPr id="3" name="Text 1"/>
          <p:cNvSpPr/>
          <p:nvPr/>
        </p:nvSpPr>
        <p:spPr>
          <a:xfrm>
            <a:off x="548640" y="3794760"/>
            <a:ext cx="11091672" cy="822960"/>
          </a:xfrm>
          <a:prstGeom prst="rect">
            <a:avLst/>
          </a:prstGeom>
          <a:noFill/>
          <a:ln/>
        </p:spPr>
        <p:txBody>
          <a:bodyPr wrap="square" lIns="0" tIns="0" rIns="0" bIns="0" rtlCol="0" anchor="ctr"/>
          <a:lstStyle/>
          <a:p>
            <a:pPr indent="0" marL="0">
              <a:buNone/>
            </a:pPr>
            <a:r>
              <a:rPr lang="en-US" sz="3800" b="1" dirty="0">
                <a:solidFill>
                  <a:srgbClr val="CDCCCA"/>
                </a:solidFill>
                <a:latin typeface="Trebuchet MS" pitchFamily="34" charset="0"/>
                <a:ea typeface="Trebuchet MS" pitchFamily="34" charset="-122"/>
                <a:cs typeface="Trebuchet MS" pitchFamily="34" charset="-120"/>
              </a:rPr>
              <a:t>Git-Based Reproducibility</a:t>
            </a:r>
            <a:endParaRPr lang="en-US" sz="3800" dirty="0"/>
          </a:p>
        </p:txBody>
      </p:sp>
      <p:sp>
        <p:nvSpPr>
          <p:cNvPr id="4" name="Text 2"/>
          <p:cNvSpPr/>
          <p:nvPr/>
        </p:nvSpPr>
        <p:spPr>
          <a:xfrm>
            <a:off x="548640" y="4526280"/>
            <a:ext cx="9144000" cy="548640"/>
          </a:xfrm>
          <a:prstGeom prst="rect">
            <a:avLst/>
          </a:prstGeom>
          <a:noFill/>
          <a:ln/>
        </p:spPr>
        <p:txBody>
          <a:bodyPr wrap="square" lIns="0" tIns="0" rIns="0" bIns="0" rtlCol="0" anchor="ctr"/>
          <a:lstStyle/>
          <a:p>
            <a:pPr indent="0" marL="0">
              <a:buNone/>
            </a:pPr>
            <a:r>
              <a:rPr lang="en-US" sz="1600" dirty="0">
                <a:solidFill>
                  <a:srgbClr val="797876"/>
                </a:solidFill>
                <a:latin typeface="Calibri" pitchFamily="34" charset="0"/>
                <a:ea typeface="Calibri" pitchFamily="34" charset="-122"/>
                <a:cs typeface="Calibri" pitchFamily="34" charset="-120"/>
              </a:rPr>
              <a:t>Pinning your code with commit hashes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SCRIPT 8</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Why Pin the Code, Not Just the Tools?</a:t>
            </a:r>
            <a:endParaRPr lang="en-US" sz="2700" dirty="0"/>
          </a:p>
        </p:txBody>
      </p:sp>
      <p:sp>
        <p:nvSpPr>
          <p:cNvPr id="4" name="Text 2"/>
          <p:cNvSpPr/>
          <p:nvPr/>
        </p:nvSpPr>
        <p:spPr>
          <a:xfrm>
            <a:off x="548640" y="1600200"/>
            <a:ext cx="4846320" cy="274320"/>
          </a:xfrm>
          <a:prstGeom prst="rect">
            <a:avLst/>
          </a:prstGeom>
          <a:noFill/>
          <a:ln/>
        </p:spPr>
        <p:txBody>
          <a:bodyPr wrap="square" lIns="0" tIns="0" rIns="0" bIns="0" rtlCol="0" anchor="ctr"/>
          <a:lstStyle/>
          <a:p>
            <a:pPr indent="0" marL="0">
              <a:buNone/>
            </a:pPr>
            <a:r>
              <a:rPr lang="en-US" sz="1200" b="1" spc="100" kern="0" dirty="0">
                <a:solidFill>
                  <a:srgbClr val="7A7974"/>
                </a:solidFill>
                <a:latin typeface="Calibri" pitchFamily="34" charset="0"/>
                <a:ea typeface="Calibri" pitchFamily="34" charset="-122"/>
                <a:cs typeface="Calibri" pitchFamily="34" charset="-120"/>
              </a:rPr>
              <a:t>WHY THIS ANALYSIS</a:t>
            </a:r>
            <a:endParaRPr lang="en-US" sz="1200" dirty="0"/>
          </a:p>
        </p:txBody>
      </p:sp>
      <p:sp>
        <p:nvSpPr>
          <p:cNvPr id="5" name="Text 3"/>
          <p:cNvSpPr/>
          <p:nvPr/>
        </p:nvSpPr>
        <p:spPr>
          <a:xfrm>
            <a:off x="548640" y="1947672"/>
            <a:ext cx="4846320" cy="4361688"/>
          </a:xfrm>
          <a:prstGeom prst="rect">
            <a:avLst/>
          </a:prstGeom>
          <a:noFill/>
          <a:ln/>
        </p:spPr>
        <p:txBody>
          <a:bodyPr wrap="square" lIns="0" tIns="0" rIns="0" bIns="0" rtlCol="0" anchor="t"/>
          <a:lstStyle/>
          <a:p>
            <a:pPr indent="0" marL="0">
              <a:lnSpc>
                <a:spcPct val="132000"/>
              </a:lnSpc>
              <a:buNone/>
            </a:pPr>
            <a:r>
              <a:rPr lang="en-US" sz="1400" dirty="0">
                <a:solidFill>
                  <a:srgbClr val="28251D"/>
                </a:solidFill>
                <a:latin typeface="Calibri" pitchFamily="34" charset="0"/>
                <a:ea typeface="Calibri" pitchFamily="34" charset="-122"/>
                <a:cs typeface="Calibri" pitchFamily="34" charset="-120"/>
              </a:rPr>
              <a:t>Script 7 pinned WHICH TOOLS and versions were used. That still doesn’t answer whether the SCRIPT ITSELF was edited between two runs that produced different numbers — only a Git commit hash answers that. Together, environment.yml + a commit hash answer the two questions every reproducibility check eventually asks: what software, and what code, produced this result?</a:t>
            </a:r>
            <a:endParaRPr lang="en-US" sz="1400" dirty="0"/>
          </a:p>
        </p:txBody>
      </p:sp>
      <p:sp>
        <p:nvSpPr>
          <p:cNvPr id="6" name="Text 4"/>
          <p:cNvSpPr/>
          <p:nvPr/>
        </p:nvSpPr>
        <p:spPr>
          <a:xfrm>
            <a:off x="5852160" y="1600200"/>
            <a:ext cx="5788152" cy="274320"/>
          </a:xfrm>
          <a:prstGeom prst="rect">
            <a:avLst/>
          </a:prstGeom>
          <a:noFill/>
          <a:ln/>
        </p:spPr>
        <p:txBody>
          <a:bodyPr wrap="square" lIns="0" tIns="0" rIns="0" bIns="0" rtlCol="0" anchor="ctr"/>
          <a:lstStyle/>
          <a:p>
            <a:pPr indent="0" marL="0">
              <a:buNone/>
            </a:pPr>
            <a:r>
              <a:rPr lang="en-US" sz="1200" b="1" spc="100" kern="0" dirty="0">
                <a:solidFill>
                  <a:srgbClr val="7A7974"/>
                </a:solidFill>
                <a:latin typeface="Calibri" pitchFamily="34" charset="0"/>
                <a:ea typeface="Calibri" pitchFamily="34" charset="-122"/>
                <a:cs typeface="Calibri" pitchFamily="34" charset="-120"/>
              </a:rPr>
              <a:t>CORE WORKFLOW</a:t>
            </a:r>
            <a:endParaRPr lang="en-US" sz="1200" dirty="0"/>
          </a:p>
        </p:txBody>
      </p:sp>
      <p:sp>
        <p:nvSpPr>
          <p:cNvPr id="7" name="Text 5"/>
          <p:cNvSpPr/>
          <p:nvPr/>
        </p:nvSpPr>
        <p:spPr>
          <a:xfrm>
            <a:off x="5852160" y="1947672"/>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01</a:t>
            </a:r>
            <a:endParaRPr lang="en-US" sz="1600" dirty="0"/>
          </a:p>
        </p:txBody>
      </p:sp>
      <p:sp>
        <p:nvSpPr>
          <p:cNvPr id="8" name="Text 6"/>
          <p:cNvSpPr/>
          <p:nvPr/>
        </p:nvSpPr>
        <p:spPr>
          <a:xfrm>
            <a:off x="6355080" y="1947672"/>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init: create the repository, and a .gitignore that excludes raw data by default</a:t>
            </a:r>
            <a:endParaRPr lang="en-US" sz="1250" dirty="0"/>
          </a:p>
        </p:txBody>
      </p:sp>
      <p:sp>
        <p:nvSpPr>
          <p:cNvPr id="9" name="Text 7"/>
          <p:cNvSpPr/>
          <p:nvPr/>
        </p:nvSpPr>
        <p:spPr>
          <a:xfrm>
            <a:off x="5852160" y="3038094"/>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02</a:t>
            </a:r>
            <a:endParaRPr lang="en-US" sz="1600" dirty="0"/>
          </a:p>
        </p:txBody>
      </p:sp>
      <p:sp>
        <p:nvSpPr>
          <p:cNvPr id="10" name="Text 8"/>
          <p:cNvSpPr/>
          <p:nvPr/>
        </p:nvSpPr>
        <p:spPr>
          <a:xfrm>
            <a:off x="6355080" y="3038094"/>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snapshot: stage everything NOT ignored (git add -A), then commit</a:t>
            </a:r>
            <a:endParaRPr lang="en-US" sz="1250" dirty="0"/>
          </a:p>
        </p:txBody>
      </p:sp>
      <p:sp>
        <p:nvSpPr>
          <p:cNvPr id="11" name="Text 9"/>
          <p:cNvSpPr/>
          <p:nvPr/>
        </p:nvSpPr>
        <p:spPr>
          <a:xfrm>
            <a:off x="5852160" y="4128516"/>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03</a:t>
            </a:r>
            <a:endParaRPr lang="en-US" sz="1600" dirty="0"/>
          </a:p>
        </p:txBody>
      </p:sp>
      <p:sp>
        <p:nvSpPr>
          <p:cNvPr id="12" name="Text 10"/>
          <p:cNvSpPr/>
          <p:nvPr/>
        </p:nvSpPr>
        <p:spPr>
          <a:xfrm>
            <a:off x="6355080" y="4128516"/>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stamp: print commit hash + branch + a dirty-tree warning, ready to embed in a run log</a:t>
            </a:r>
            <a:endParaRPr lang="en-US" sz="1250" dirty="0"/>
          </a:p>
        </p:txBody>
      </p:sp>
      <p:sp>
        <p:nvSpPr>
          <p:cNvPr id="13" name="Text 11"/>
          <p:cNvSpPr/>
          <p:nvPr/>
        </p:nvSpPr>
        <p:spPr>
          <a:xfrm>
            <a:off x="5852160" y="5218938"/>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04</a:t>
            </a:r>
            <a:endParaRPr lang="en-US" sz="1600" dirty="0"/>
          </a:p>
        </p:txBody>
      </p:sp>
      <p:sp>
        <p:nvSpPr>
          <p:cNvPr id="14" name="Text 12"/>
          <p:cNvSpPr/>
          <p:nvPr/>
        </p:nvSpPr>
        <p:spPr>
          <a:xfrm>
            <a:off x="6355080" y="5218938"/>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Every meaningful pipeline run gets its own traceable commit</a:t>
            </a:r>
            <a:endParaRPr lang="en-US" sz="1250" dirty="0"/>
          </a:p>
        </p:txBody>
      </p:sp>
      <p:sp>
        <p:nvSpPr>
          <p:cNvPr id="15" name="Text 13"/>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Foundations &amp; Reproducibility Lecture</a:t>
            </a:r>
            <a:endParaRPr lang="en-US" sz="1000" dirty="0"/>
          </a:p>
        </p:txBody>
      </p:sp>
      <p:sp>
        <p:nvSpPr>
          <p:cNvPr id="16" name="Text 14"/>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SCRIPT 8</a:t>
            </a:r>
            <a:endParaRPr lang="en-US" sz="1200" dirty="0"/>
          </a:p>
        </p:txBody>
      </p:sp>
      <p:sp>
        <p:nvSpPr>
          <p:cNvPr id="3" name="Text 1"/>
          <p:cNvSpPr/>
          <p:nvPr/>
        </p:nvSpPr>
        <p:spPr>
          <a:xfrm>
            <a:off x="548640" y="749808"/>
            <a:ext cx="11091672" cy="54864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Nuances &amp; Pitfalls</a:t>
            </a:r>
            <a:endParaRPr lang="en-US" sz="2700" dirty="0"/>
          </a:p>
        </p:txBody>
      </p:sp>
      <p:sp>
        <p:nvSpPr>
          <p:cNvPr id="4" name="Text 2"/>
          <p:cNvSpPr/>
          <p:nvPr/>
        </p:nvSpPr>
        <p:spPr>
          <a:xfrm>
            <a:off x="548640" y="1298448"/>
            <a:ext cx="11091672" cy="365760"/>
          </a:xfrm>
          <a:prstGeom prst="rect">
            <a:avLst/>
          </a:prstGeom>
          <a:noFill/>
          <a:ln/>
        </p:spPr>
        <p:txBody>
          <a:bodyPr wrap="square" lIns="0" tIns="0" rIns="0" bIns="0" rtlCol="0" anchor="ctr"/>
          <a:lstStyle/>
          <a:p>
            <a:pPr indent="0" marL="0">
              <a:buNone/>
            </a:pPr>
            <a:r>
              <a:rPr lang="en-US" sz="1300" i="1" dirty="0">
                <a:solidFill>
                  <a:srgbClr val="7A7974"/>
                </a:solidFill>
                <a:latin typeface="Calibri" pitchFamily="34" charset="0"/>
                <a:ea typeface="Calibri" pitchFamily="34" charset="-122"/>
                <a:cs typeface="Calibri" pitchFamily="34" charset="-120"/>
              </a:rPr>
              <a:t>One real bug was found and fixed while building this script — a useful cautionary example in its own right.</a:t>
            </a:r>
            <a:endParaRPr lang="en-US" sz="1300" dirty="0"/>
          </a:p>
        </p:txBody>
      </p:sp>
      <p:sp>
        <p:nvSpPr>
          <p:cNvPr id="5" name="Shape 3"/>
          <p:cNvSpPr/>
          <p:nvPr/>
        </p:nvSpPr>
        <p:spPr>
          <a:xfrm>
            <a:off x="548640" y="1737360"/>
            <a:ext cx="11091672" cy="1347216"/>
          </a:xfrm>
          <a:prstGeom prst="rect">
            <a:avLst/>
          </a:prstGeom>
          <a:solidFill>
            <a:srgbClr val="FBFBF9"/>
          </a:solidFill>
          <a:ln w="9525">
            <a:solidFill>
              <a:srgbClr val="D4D1CA"/>
            </a:solidFill>
            <a:prstDash val="solid"/>
          </a:ln>
        </p:spPr>
      </p:sp>
      <p:sp>
        <p:nvSpPr>
          <p:cNvPr id="6" name="Text 4"/>
          <p:cNvSpPr/>
          <p:nvPr/>
        </p:nvSpPr>
        <p:spPr>
          <a:xfrm>
            <a:off x="804672" y="1737360"/>
            <a:ext cx="10579608" cy="134721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A specific-extension "git add" can fail completely, silently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An earlier version of this script staged only specific extensions with git add -- '*.sh' '*.R' .... Git treats a pathspec with ZERO matches as a hard error and aborts the entire add — so a project with no *.R files yet staged NOTHING at all, with no obvious warning. The fix: git add -A ., which relies on .gitignore instead of an extension allowlist.</a:t>
            </a:r>
            <a:endParaRPr lang="en-US" sz="1350" dirty="0"/>
          </a:p>
        </p:txBody>
      </p:sp>
      <p:sp>
        <p:nvSpPr>
          <p:cNvPr id="7" name="Shape 5"/>
          <p:cNvSpPr/>
          <p:nvPr/>
        </p:nvSpPr>
        <p:spPr>
          <a:xfrm>
            <a:off x="548640" y="3267456"/>
            <a:ext cx="11091672" cy="1347216"/>
          </a:xfrm>
          <a:prstGeom prst="rect">
            <a:avLst/>
          </a:prstGeom>
          <a:solidFill>
            <a:srgbClr val="FBFBF9"/>
          </a:solidFill>
          <a:ln w="9525">
            <a:solidFill>
              <a:srgbClr val="D4D1CA"/>
            </a:solidFill>
            <a:prstDash val="solid"/>
          </a:ln>
        </p:spPr>
      </p:sp>
      <p:sp>
        <p:nvSpPr>
          <p:cNvPr id="8" name="Text 6"/>
          <p:cNvSpPr/>
          <p:nvPr/>
        </p:nvSpPr>
        <p:spPr>
          <a:xfrm>
            <a:off x="804672" y="3267456"/>
            <a:ext cx="10579608" cy="134721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A commit hash only proves what it claims if the tree was clean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The stamp command deliberately WARNS rather than silently stamping when uncommitted changes exist — a run log claiming "commit abc123" while the actual code had uncommitted edits is actively misleading, worse than no version information at all.</a:t>
            </a:r>
            <a:endParaRPr lang="en-US" sz="1350" dirty="0"/>
          </a:p>
        </p:txBody>
      </p:sp>
      <p:sp>
        <p:nvSpPr>
          <p:cNvPr id="9" name="Shape 7"/>
          <p:cNvSpPr/>
          <p:nvPr/>
        </p:nvSpPr>
        <p:spPr>
          <a:xfrm>
            <a:off x="548640" y="4797552"/>
            <a:ext cx="11091672" cy="1347216"/>
          </a:xfrm>
          <a:prstGeom prst="rect">
            <a:avLst/>
          </a:prstGeom>
          <a:solidFill>
            <a:srgbClr val="FBFBF9"/>
          </a:solidFill>
          <a:ln w="9525">
            <a:solidFill>
              <a:srgbClr val="D4D1CA"/>
            </a:solidFill>
            <a:prstDash val="solid"/>
          </a:ln>
        </p:spPr>
      </p:sp>
      <p:sp>
        <p:nvSpPr>
          <p:cNvPr id="10" name="Text 8"/>
          <p:cNvSpPr/>
          <p:nvPr/>
        </p:nvSpPr>
        <p:spPr>
          <a:xfrm>
            <a:off x="804672" y="4797552"/>
            <a:ext cx="10579608" cy="134721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Git tracks code well and data poorly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A commit records a snapshot of tracked files, not proof that the snapshot was ever actually RUN. Pair a commit hash with a log showing the command that was executed — hash alone answers "what code existed," not "what code ran."</a:t>
            </a:r>
            <a:endParaRPr lang="en-US" sz="1350" dirty="0"/>
          </a:p>
        </p:txBody>
      </p:sp>
      <p:sp>
        <p:nvSpPr>
          <p:cNvPr id="11" name="Text 9"/>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Foundations &amp; Reproducibility Lecture</a:t>
            </a:r>
            <a:endParaRPr lang="en-US" sz="1000" dirty="0"/>
          </a:p>
        </p:txBody>
      </p:sp>
      <p:sp>
        <p:nvSpPr>
          <p:cNvPr id="12" name="Text 10"/>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71614"/>
        </a:solidFill>
      </p:bgPr>
    </p:bg>
    <p:spTree>
      <p:nvGrpSpPr>
        <p:cNvPr id="1" name=""/>
        <p:cNvGrpSpPr/>
        <p:nvPr/>
      </p:nvGrpSpPr>
      <p:grpSpPr>
        <a:xfrm>
          <a:off x="0" y="0"/>
          <a:ext cx="0" cy="0"/>
          <a:chOff x="0" y="0"/>
          <a:chExt cx="0" cy="0"/>
        </a:xfrm>
      </p:grpSpPr>
      <p:sp>
        <p:nvSpPr>
          <p:cNvPr id="2" name="Text 0"/>
          <p:cNvSpPr/>
          <p:nvPr/>
        </p:nvSpPr>
        <p:spPr>
          <a:xfrm>
            <a:off x="548640" y="2286000"/>
            <a:ext cx="2743200" cy="1371600"/>
          </a:xfrm>
          <a:prstGeom prst="rect">
            <a:avLst/>
          </a:prstGeom>
          <a:noFill/>
          <a:ln/>
        </p:spPr>
        <p:txBody>
          <a:bodyPr wrap="square" lIns="0" tIns="0" rIns="0" bIns="0" rtlCol="0" anchor="ctr"/>
          <a:lstStyle/>
          <a:p>
            <a:pPr indent="0" marL="0">
              <a:buNone/>
            </a:pPr>
            <a:r>
              <a:rPr lang="en-US" sz="9600" b="1" dirty="0">
                <a:solidFill>
                  <a:srgbClr val="4F98A3"/>
                </a:solidFill>
                <a:latin typeface="Trebuchet MS" pitchFamily="34" charset="0"/>
                <a:ea typeface="Trebuchet MS" pitchFamily="34" charset="-122"/>
                <a:cs typeface="Trebuchet MS" pitchFamily="34" charset="-120"/>
              </a:rPr>
              <a:t>03</a:t>
            </a:r>
            <a:endParaRPr lang="en-US" sz="9600" dirty="0"/>
          </a:p>
        </p:txBody>
      </p:sp>
      <p:sp>
        <p:nvSpPr>
          <p:cNvPr id="3" name="Text 1"/>
          <p:cNvSpPr/>
          <p:nvPr/>
        </p:nvSpPr>
        <p:spPr>
          <a:xfrm>
            <a:off x="548640" y="3794760"/>
            <a:ext cx="11091672" cy="822960"/>
          </a:xfrm>
          <a:prstGeom prst="rect">
            <a:avLst/>
          </a:prstGeom>
          <a:noFill/>
          <a:ln/>
        </p:spPr>
        <p:txBody>
          <a:bodyPr wrap="square" lIns="0" tIns="0" rIns="0" bIns="0" rtlCol="0" anchor="ctr"/>
          <a:lstStyle/>
          <a:p>
            <a:pPr indent="0" marL="0">
              <a:buNone/>
            </a:pPr>
            <a:r>
              <a:rPr lang="en-US" sz="3800" b="1" dirty="0">
                <a:solidFill>
                  <a:srgbClr val="CDCCCA"/>
                </a:solidFill>
                <a:latin typeface="Trebuchet MS" pitchFamily="34" charset="0"/>
                <a:ea typeface="Trebuchet MS" pitchFamily="34" charset="-122"/>
                <a:cs typeface="Trebuchet MS" pitchFamily="34" charset="-120"/>
              </a:rPr>
              <a:t>File-Format Validation</a:t>
            </a:r>
            <a:endParaRPr lang="en-US" sz="3800" dirty="0"/>
          </a:p>
        </p:txBody>
      </p:sp>
      <p:sp>
        <p:nvSpPr>
          <p:cNvPr id="4" name="Text 2"/>
          <p:cNvSpPr/>
          <p:nvPr/>
        </p:nvSpPr>
        <p:spPr>
          <a:xfrm>
            <a:off x="548640" y="4526280"/>
            <a:ext cx="9144000" cy="548640"/>
          </a:xfrm>
          <a:prstGeom prst="rect">
            <a:avLst/>
          </a:prstGeom>
          <a:noFill/>
          <a:ln/>
        </p:spPr>
        <p:txBody>
          <a:bodyPr wrap="square" lIns="0" tIns="0" rIns="0" bIns="0" rtlCol="0" anchor="ctr"/>
          <a:lstStyle/>
          <a:p>
            <a:pPr indent="0" marL="0">
              <a:buNone/>
            </a:pPr>
            <a:r>
              <a:rPr lang="en-US" sz="1600" dirty="0">
                <a:solidFill>
                  <a:srgbClr val="797876"/>
                </a:solidFill>
                <a:latin typeface="Calibri" pitchFamily="34" charset="0"/>
                <a:ea typeface="Calibri" pitchFamily="34" charset="-122"/>
                <a:cs typeface="Calibri" pitchFamily="34" charset="-120"/>
              </a:rPr>
              <a:t>Trusting data only after checking its structure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SCRIPT 9</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Why Check File Structure At All?</a:t>
            </a:r>
            <a:endParaRPr lang="en-US" sz="2700" dirty="0"/>
          </a:p>
        </p:txBody>
      </p:sp>
      <p:sp>
        <p:nvSpPr>
          <p:cNvPr id="4" name="Text 2"/>
          <p:cNvSpPr/>
          <p:nvPr/>
        </p:nvSpPr>
        <p:spPr>
          <a:xfrm>
            <a:off x="548640" y="1600200"/>
            <a:ext cx="4846320" cy="274320"/>
          </a:xfrm>
          <a:prstGeom prst="rect">
            <a:avLst/>
          </a:prstGeom>
          <a:noFill/>
          <a:ln/>
        </p:spPr>
        <p:txBody>
          <a:bodyPr wrap="square" lIns="0" tIns="0" rIns="0" bIns="0" rtlCol="0" anchor="ctr"/>
          <a:lstStyle/>
          <a:p>
            <a:pPr indent="0" marL="0">
              <a:buNone/>
            </a:pPr>
            <a:r>
              <a:rPr lang="en-US" sz="1200" b="1" spc="100" kern="0" dirty="0">
                <a:solidFill>
                  <a:srgbClr val="7A7974"/>
                </a:solidFill>
                <a:latin typeface="Calibri" pitchFamily="34" charset="0"/>
                <a:ea typeface="Calibri" pitchFamily="34" charset="-122"/>
                <a:cs typeface="Calibri" pitchFamily="34" charset="-120"/>
              </a:rPr>
              <a:t>WHY THIS ANALYSIS</a:t>
            </a:r>
            <a:endParaRPr lang="en-US" sz="1200" dirty="0"/>
          </a:p>
        </p:txBody>
      </p:sp>
      <p:sp>
        <p:nvSpPr>
          <p:cNvPr id="5" name="Text 3"/>
          <p:cNvSpPr/>
          <p:nvPr/>
        </p:nvSpPr>
        <p:spPr>
          <a:xfrm>
            <a:off x="548640" y="1947672"/>
            <a:ext cx="4846320" cy="4361688"/>
          </a:xfrm>
          <a:prstGeom prst="rect">
            <a:avLst/>
          </a:prstGeom>
          <a:noFill/>
          <a:ln/>
        </p:spPr>
        <p:txBody>
          <a:bodyPr wrap="square" lIns="0" tIns="0" rIns="0" bIns="0" rtlCol="0" anchor="t"/>
          <a:lstStyle/>
          <a:p>
            <a:pPr indent="0" marL="0">
              <a:lnSpc>
                <a:spcPct val="132000"/>
              </a:lnSpc>
              <a:buNone/>
            </a:pPr>
            <a:r>
              <a:rPr lang="en-US" sz="1400" dirty="0">
                <a:solidFill>
                  <a:srgbClr val="28251D"/>
                </a:solidFill>
                <a:latin typeface="Calibri" pitchFamily="34" charset="0"/>
                <a:ea typeface="Calibri" pitchFamily="34" charset="-122"/>
                <a:cs typeface="Calibri" pitchFamily="34" charset="-120"/>
              </a:rPr>
              <a:t>Scripts 7 and 8 pinned WHICH TOOLS and WHICH CODE produced a result. This script checks whether the DATA those tools consumed and produced actually has the shape it claims to. A tool given a truncated FASTQ file or a header-less VCF will often still run — and produce silently wrong output — rather than crash outright.</a:t>
            </a:r>
            <a:endParaRPr lang="en-US" sz="1400" dirty="0"/>
          </a:p>
        </p:txBody>
      </p:sp>
      <p:sp>
        <p:nvSpPr>
          <p:cNvPr id="6" name="Text 4"/>
          <p:cNvSpPr/>
          <p:nvPr/>
        </p:nvSpPr>
        <p:spPr>
          <a:xfrm>
            <a:off x="5852160" y="1600200"/>
            <a:ext cx="5788152" cy="274320"/>
          </a:xfrm>
          <a:prstGeom prst="rect">
            <a:avLst/>
          </a:prstGeom>
          <a:noFill/>
          <a:ln/>
        </p:spPr>
        <p:txBody>
          <a:bodyPr wrap="square" lIns="0" tIns="0" rIns="0" bIns="0" rtlCol="0" anchor="ctr"/>
          <a:lstStyle/>
          <a:p>
            <a:pPr indent="0" marL="0">
              <a:buNone/>
            </a:pPr>
            <a:r>
              <a:rPr lang="en-US" sz="1200" b="1" spc="100" kern="0" dirty="0">
                <a:solidFill>
                  <a:srgbClr val="7A7974"/>
                </a:solidFill>
                <a:latin typeface="Calibri" pitchFamily="34" charset="0"/>
                <a:ea typeface="Calibri" pitchFamily="34" charset="-122"/>
                <a:cs typeface="Calibri" pitchFamily="34" charset="-120"/>
              </a:rPr>
              <a:t>CORE WORKFLOW</a:t>
            </a:r>
            <a:endParaRPr lang="en-US" sz="1200" dirty="0"/>
          </a:p>
        </p:txBody>
      </p:sp>
      <p:sp>
        <p:nvSpPr>
          <p:cNvPr id="7" name="Text 5"/>
          <p:cNvSpPr/>
          <p:nvPr/>
        </p:nvSpPr>
        <p:spPr>
          <a:xfrm>
            <a:off x="5852160" y="1947672"/>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01</a:t>
            </a:r>
            <a:endParaRPr lang="en-US" sz="1600" dirty="0"/>
          </a:p>
        </p:txBody>
      </p:sp>
      <p:sp>
        <p:nvSpPr>
          <p:cNvPr id="8" name="Text 6"/>
          <p:cNvSpPr/>
          <p:nvPr/>
        </p:nvSpPr>
        <p:spPr>
          <a:xfrm>
            <a:off x="6355080" y="1947672"/>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FASTQ: line count is a multiple of 4, records start with "@"</a:t>
            </a:r>
            <a:endParaRPr lang="en-US" sz="1250" dirty="0"/>
          </a:p>
        </p:txBody>
      </p:sp>
      <p:sp>
        <p:nvSpPr>
          <p:cNvPr id="9" name="Text 7"/>
          <p:cNvSpPr/>
          <p:nvPr/>
        </p:nvSpPr>
        <p:spPr>
          <a:xfrm>
            <a:off x="5852160" y="3038094"/>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02</a:t>
            </a:r>
            <a:endParaRPr lang="en-US" sz="1600" dirty="0"/>
          </a:p>
        </p:txBody>
      </p:sp>
      <p:sp>
        <p:nvSpPr>
          <p:cNvPr id="10" name="Text 8"/>
          <p:cNvSpPr/>
          <p:nvPr/>
        </p:nvSpPr>
        <p:spPr>
          <a:xfrm>
            <a:off x="6355080" y="3038094"/>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Paired FASTQ: mate files have IDENTICAL read counts</a:t>
            </a:r>
            <a:endParaRPr lang="en-US" sz="1250" dirty="0"/>
          </a:p>
        </p:txBody>
      </p:sp>
      <p:sp>
        <p:nvSpPr>
          <p:cNvPr id="11" name="Text 9"/>
          <p:cNvSpPr/>
          <p:nvPr/>
        </p:nvSpPr>
        <p:spPr>
          <a:xfrm>
            <a:off x="5852160" y="4128516"/>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03</a:t>
            </a:r>
            <a:endParaRPr lang="en-US" sz="1600" dirty="0"/>
          </a:p>
        </p:txBody>
      </p:sp>
      <p:sp>
        <p:nvSpPr>
          <p:cNvPr id="12" name="Text 10"/>
          <p:cNvSpPr/>
          <p:nvPr/>
        </p:nvSpPr>
        <p:spPr>
          <a:xfrm>
            <a:off x="6355080" y="4128516"/>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FASTA / BED / GFF-GTF / VCF: headers, column counts, and coordinate sanity</a:t>
            </a:r>
            <a:endParaRPr lang="en-US" sz="1250" dirty="0"/>
          </a:p>
        </p:txBody>
      </p:sp>
      <p:sp>
        <p:nvSpPr>
          <p:cNvPr id="13" name="Text 11"/>
          <p:cNvSpPr/>
          <p:nvPr/>
        </p:nvSpPr>
        <p:spPr>
          <a:xfrm>
            <a:off x="5852160" y="5218938"/>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04</a:t>
            </a:r>
            <a:endParaRPr lang="en-US" sz="1600" dirty="0"/>
          </a:p>
        </p:txBody>
      </p:sp>
      <p:sp>
        <p:nvSpPr>
          <p:cNvPr id="14" name="Text 12"/>
          <p:cNvSpPr/>
          <p:nvPr/>
        </p:nvSpPr>
        <p:spPr>
          <a:xfrm>
            <a:off x="6355080" y="5218938"/>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SAM/BAM: samtools quickcheck for a fast structural integrity check</a:t>
            </a:r>
            <a:endParaRPr lang="en-US" sz="1250" dirty="0"/>
          </a:p>
        </p:txBody>
      </p:sp>
      <p:sp>
        <p:nvSpPr>
          <p:cNvPr id="15" name="Text 13"/>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Foundations &amp; Reproducibility Lecture</a:t>
            </a:r>
            <a:endParaRPr lang="en-US" sz="1000" dirty="0"/>
          </a:p>
        </p:txBody>
      </p:sp>
      <p:sp>
        <p:nvSpPr>
          <p:cNvPr id="16" name="Text 14"/>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SCRIPT 9</a:t>
            </a:r>
            <a:endParaRPr lang="en-US" sz="1200" dirty="0"/>
          </a:p>
        </p:txBody>
      </p:sp>
      <p:sp>
        <p:nvSpPr>
          <p:cNvPr id="3" name="Text 1"/>
          <p:cNvSpPr/>
          <p:nvPr/>
        </p:nvSpPr>
        <p:spPr>
          <a:xfrm>
            <a:off x="548640" y="749808"/>
            <a:ext cx="11091672" cy="54864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Nuances &amp; Pitfalls</a:t>
            </a:r>
            <a:endParaRPr lang="en-US" sz="2700" dirty="0"/>
          </a:p>
        </p:txBody>
      </p:sp>
      <p:sp>
        <p:nvSpPr>
          <p:cNvPr id="4" name="Shape 2"/>
          <p:cNvSpPr/>
          <p:nvPr/>
        </p:nvSpPr>
        <p:spPr>
          <a:xfrm>
            <a:off x="548640" y="1371600"/>
            <a:ext cx="11091672" cy="1469136"/>
          </a:xfrm>
          <a:prstGeom prst="rect">
            <a:avLst/>
          </a:prstGeom>
          <a:solidFill>
            <a:srgbClr val="FBFBF9"/>
          </a:solidFill>
          <a:ln w="9525">
            <a:solidFill>
              <a:srgbClr val="D4D1CA"/>
            </a:solidFill>
            <a:prstDash val="solid"/>
          </a:ln>
        </p:spPr>
      </p:sp>
      <p:sp>
        <p:nvSpPr>
          <p:cNvPr id="5" name="Text 3"/>
          <p:cNvSpPr/>
          <p:nvPr/>
        </p:nvSpPr>
        <p:spPr>
          <a:xfrm>
            <a:off x="804672" y="1371600"/>
            <a:ext cx="10579608" cy="146913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Structural checks are a floor, not a ceiling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A FASTQ file can pass every check here and still contain garbage sequence; a VCF can have a perfect header and still contain wrong genotype calls. Format validation catches "the file is broken," not "the file is correct" — exactly the same relationship FastQC (script 1) has to actual biological validity.</a:t>
            </a:r>
            <a:endParaRPr lang="en-US" sz="1350" dirty="0"/>
          </a:p>
        </p:txBody>
      </p:sp>
      <p:sp>
        <p:nvSpPr>
          <p:cNvPr id="6" name="Shape 4"/>
          <p:cNvSpPr/>
          <p:nvPr/>
        </p:nvSpPr>
        <p:spPr>
          <a:xfrm>
            <a:off x="548640" y="3023616"/>
            <a:ext cx="11091672" cy="1469136"/>
          </a:xfrm>
          <a:prstGeom prst="rect">
            <a:avLst/>
          </a:prstGeom>
          <a:solidFill>
            <a:srgbClr val="FBFBF9"/>
          </a:solidFill>
          <a:ln w="9525">
            <a:solidFill>
              <a:srgbClr val="D4D1CA"/>
            </a:solidFill>
            <a:prstDash val="solid"/>
          </a:ln>
        </p:spPr>
      </p:sp>
      <p:sp>
        <p:nvSpPr>
          <p:cNvPr id="7" name="Text 5"/>
          <p:cNvSpPr/>
          <p:nvPr/>
        </p:nvSpPr>
        <p:spPr>
          <a:xfrm>
            <a:off x="804672" y="3023616"/>
            <a:ext cx="10579608" cy="146913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samtools quickcheck is fast on purpose, not exhaustive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It deliberately does not decompress and verify every alignment record — that would defeat the "quick" in its name. It reliably catches truncated files and missing EOF markers, but a BAM with a few corrupted records in the middle can still pass.</a:t>
            </a:r>
            <a:endParaRPr lang="en-US" sz="1350" dirty="0"/>
          </a:p>
        </p:txBody>
      </p:sp>
      <p:sp>
        <p:nvSpPr>
          <p:cNvPr id="8" name="Shape 6"/>
          <p:cNvSpPr/>
          <p:nvPr/>
        </p:nvSpPr>
        <p:spPr>
          <a:xfrm>
            <a:off x="548640" y="4675632"/>
            <a:ext cx="11091672" cy="1469136"/>
          </a:xfrm>
          <a:prstGeom prst="rect">
            <a:avLst/>
          </a:prstGeom>
          <a:solidFill>
            <a:srgbClr val="FBFBF9"/>
          </a:solidFill>
          <a:ln w="9525">
            <a:solidFill>
              <a:srgbClr val="D4D1CA"/>
            </a:solidFill>
            <a:prstDash val="solid"/>
          </a:ln>
        </p:spPr>
      </p:sp>
      <p:sp>
        <p:nvSpPr>
          <p:cNvPr id="9" name="Text 7"/>
          <p:cNvSpPr/>
          <p:nvPr/>
        </p:nvSpPr>
        <p:spPr>
          <a:xfrm>
            <a:off x="804672" y="4675632"/>
            <a:ext cx="10579608" cy="146913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The multiple-of-4 FASTQ check catches truncation, not every corruption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A file with exactly the wrong number of lines inserted at a 4-line boundary would still "pass" while being scrambled. It is a cheap, high-value first filter — not an exhaustive validator.</a:t>
            </a:r>
            <a:endParaRPr lang="en-US" sz="1350" dirty="0"/>
          </a:p>
        </p:txBody>
      </p:sp>
      <p:sp>
        <p:nvSpPr>
          <p:cNvPr id="10" name="Text 8"/>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Foundations &amp; Reproducibility Lecture</a:t>
            </a:r>
            <a:endParaRPr lang="en-US" sz="1000" dirty="0"/>
          </a:p>
        </p:txBody>
      </p:sp>
      <p:sp>
        <p:nvSpPr>
          <p:cNvPr id="11" name="Text 9"/>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71614"/>
        </a:solidFill>
      </p:bgPr>
    </p:bg>
    <p:spTree>
      <p:nvGrpSpPr>
        <p:cNvPr id="1" name=""/>
        <p:cNvGrpSpPr/>
        <p:nvPr/>
      </p:nvGrpSpPr>
      <p:grpSpPr>
        <a:xfrm>
          <a:off x="0" y="0"/>
          <a:ext cx="0" cy="0"/>
          <a:chOff x="0" y="0"/>
          <a:chExt cx="0" cy="0"/>
        </a:xfrm>
      </p:grpSpPr>
      <p:sp>
        <p:nvSpPr>
          <p:cNvPr id="2" name="Text 0"/>
          <p:cNvSpPr/>
          <p:nvPr/>
        </p:nvSpPr>
        <p:spPr>
          <a:xfrm>
            <a:off x="548640" y="2286000"/>
            <a:ext cx="2743200" cy="1371600"/>
          </a:xfrm>
          <a:prstGeom prst="rect">
            <a:avLst/>
          </a:prstGeom>
          <a:noFill/>
          <a:ln/>
        </p:spPr>
        <p:txBody>
          <a:bodyPr wrap="square" lIns="0" tIns="0" rIns="0" bIns="0" rtlCol="0" anchor="ctr"/>
          <a:lstStyle/>
          <a:p>
            <a:pPr indent="0" marL="0">
              <a:buNone/>
            </a:pPr>
            <a:r>
              <a:rPr lang="en-US" sz="9600" b="1" dirty="0">
                <a:solidFill>
                  <a:srgbClr val="4F98A3"/>
                </a:solidFill>
                <a:latin typeface="Trebuchet MS" pitchFamily="34" charset="0"/>
                <a:ea typeface="Trebuchet MS" pitchFamily="34" charset="-122"/>
                <a:cs typeface="Trebuchet MS" pitchFamily="34" charset="-120"/>
              </a:rPr>
              <a:t>04</a:t>
            </a:r>
            <a:endParaRPr lang="en-US" sz="9600" dirty="0"/>
          </a:p>
        </p:txBody>
      </p:sp>
      <p:sp>
        <p:nvSpPr>
          <p:cNvPr id="3" name="Text 1"/>
          <p:cNvSpPr/>
          <p:nvPr/>
        </p:nvSpPr>
        <p:spPr>
          <a:xfrm>
            <a:off x="548640" y="3794760"/>
            <a:ext cx="11091672" cy="822960"/>
          </a:xfrm>
          <a:prstGeom prst="rect">
            <a:avLst/>
          </a:prstGeom>
          <a:noFill/>
          <a:ln/>
        </p:spPr>
        <p:txBody>
          <a:bodyPr wrap="square" lIns="0" tIns="0" rIns="0" bIns="0" rtlCol="0" anchor="ctr"/>
          <a:lstStyle/>
          <a:p>
            <a:pPr indent="0" marL="0">
              <a:buNone/>
            </a:pPr>
            <a:r>
              <a:rPr lang="en-US" sz="3800" b="1" dirty="0">
                <a:solidFill>
                  <a:srgbClr val="CDCCCA"/>
                </a:solidFill>
                <a:latin typeface="Trebuchet MS" pitchFamily="34" charset="0"/>
                <a:ea typeface="Trebuchet MS" pitchFamily="34" charset="-122"/>
                <a:cs typeface="Trebuchet MS" pitchFamily="34" charset="-120"/>
              </a:rPr>
              <a:t>The Integrated Capstone</a:t>
            </a:r>
            <a:endParaRPr lang="en-US" sz="3800" dirty="0"/>
          </a:p>
        </p:txBody>
      </p:sp>
      <p:sp>
        <p:nvSpPr>
          <p:cNvPr id="4" name="Text 2"/>
          <p:cNvSpPr/>
          <p:nvPr/>
        </p:nvSpPr>
        <p:spPr>
          <a:xfrm>
            <a:off x="548640" y="4526280"/>
            <a:ext cx="9144000" cy="548640"/>
          </a:xfrm>
          <a:prstGeom prst="rect">
            <a:avLst/>
          </a:prstGeom>
          <a:noFill/>
          <a:ln/>
        </p:spPr>
        <p:txBody>
          <a:bodyPr wrap="square" lIns="0" tIns="0" rIns="0" bIns="0" rtlCol="0" anchor="ctr"/>
          <a:lstStyle/>
          <a:p>
            <a:pPr indent="0" marL="0">
              <a:buNone/>
            </a:pPr>
            <a:r>
              <a:rPr lang="en-US" sz="1600" dirty="0">
                <a:solidFill>
                  <a:srgbClr val="797876"/>
                </a:solidFill>
                <a:latin typeface="Calibri" pitchFamily="34" charset="0"/>
                <a:ea typeface="Calibri" pitchFamily="34" charset="-122"/>
                <a:cs typeface="Calibri" pitchFamily="34" charset="-120"/>
              </a:rPr>
              <a:t>One run, five habits, one portfolio artifact</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SCRIPT 10</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Why Combine Everything Into One Run?</a:t>
            </a:r>
            <a:endParaRPr lang="en-US" sz="2700" dirty="0"/>
          </a:p>
        </p:txBody>
      </p:sp>
      <p:sp>
        <p:nvSpPr>
          <p:cNvPr id="4" name="Text 2"/>
          <p:cNvSpPr/>
          <p:nvPr/>
        </p:nvSpPr>
        <p:spPr>
          <a:xfrm>
            <a:off x="548640" y="1600200"/>
            <a:ext cx="4846320" cy="274320"/>
          </a:xfrm>
          <a:prstGeom prst="rect">
            <a:avLst/>
          </a:prstGeom>
          <a:noFill/>
          <a:ln/>
        </p:spPr>
        <p:txBody>
          <a:bodyPr wrap="square" lIns="0" tIns="0" rIns="0" bIns="0" rtlCol="0" anchor="ctr"/>
          <a:lstStyle/>
          <a:p>
            <a:pPr indent="0" marL="0">
              <a:buNone/>
            </a:pPr>
            <a:r>
              <a:rPr lang="en-US" sz="1200" b="1" spc="100" kern="0" dirty="0">
                <a:solidFill>
                  <a:srgbClr val="7A7974"/>
                </a:solidFill>
                <a:latin typeface="Calibri" pitchFamily="34" charset="0"/>
                <a:ea typeface="Calibri" pitchFamily="34" charset="-122"/>
                <a:cs typeface="Calibri" pitchFamily="34" charset="-120"/>
              </a:rPr>
              <a:t>WHY THIS ANALYSIS</a:t>
            </a:r>
            <a:endParaRPr lang="en-US" sz="1200" dirty="0"/>
          </a:p>
        </p:txBody>
      </p:sp>
      <p:sp>
        <p:nvSpPr>
          <p:cNvPr id="5" name="Text 3"/>
          <p:cNvSpPr/>
          <p:nvPr/>
        </p:nvSpPr>
        <p:spPr>
          <a:xfrm>
            <a:off x="548640" y="1947672"/>
            <a:ext cx="4846320" cy="4361688"/>
          </a:xfrm>
          <a:prstGeom prst="rect">
            <a:avLst/>
          </a:prstGeom>
          <a:noFill/>
          <a:ln/>
        </p:spPr>
        <p:txBody>
          <a:bodyPr wrap="square" lIns="0" tIns="0" rIns="0" bIns="0" rtlCol="0" anchor="t"/>
          <a:lstStyle/>
          <a:p>
            <a:pPr indent="0" marL="0">
              <a:lnSpc>
                <a:spcPct val="132000"/>
              </a:lnSpc>
              <a:buNone/>
            </a:pPr>
            <a:r>
              <a:rPr lang="en-US" sz="1400" dirty="0">
                <a:solidFill>
                  <a:srgbClr val="28251D"/>
                </a:solidFill>
                <a:latin typeface="Calibri" pitchFamily="34" charset="0"/>
                <a:ea typeface="Calibri" pitchFamily="34" charset="-122"/>
                <a:cs typeface="Calibri" pitchFamily="34" charset="-120"/>
              </a:rPr>
              <a:t>Nothing in this script is a new technique — its entire lesson is that reproducibility is the SUM of small habits, not one big feature. It runs the same PRJNA1518998 samples used throughout this module, but this time every habit from scripts 5, 6, 7, 8, and 9 runs together, automatically, in one submission.</a:t>
            </a:r>
            <a:endParaRPr lang="en-US" sz="1400" dirty="0"/>
          </a:p>
        </p:txBody>
      </p:sp>
      <p:sp>
        <p:nvSpPr>
          <p:cNvPr id="6" name="Text 4"/>
          <p:cNvSpPr/>
          <p:nvPr/>
        </p:nvSpPr>
        <p:spPr>
          <a:xfrm>
            <a:off x="5852160" y="1600200"/>
            <a:ext cx="5788152" cy="274320"/>
          </a:xfrm>
          <a:prstGeom prst="rect">
            <a:avLst/>
          </a:prstGeom>
          <a:noFill/>
          <a:ln/>
        </p:spPr>
        <p:txBody>
          <a:bodyPr wrap="square" lIns="0" tIns="0" rIns="0" bIns="0" rtlCol="0" anchor="ctr"/>
          <a:lstStyle/>
          <a:p>
            <a:pPr indent="0" marL="0">
              <a:buNone/>
            </a:pPr>
            <a:r>
              <a:rPr lang="en-US" sz="1200" b="1" spc="100" kern="0" dirty="0">
                <a:solidFill>
                  <a:srgbClr val="7A7974"/>
                </a:solidFill>
                <a:latin typeface="Calibri" pitchFamily="34" charset="0"/>
                <a:ea typeface="Calibri" pitchFamily="34" charset="-122"/>
                <a:cs typeface="Calibri" pitchFamily="34" charset="-120"/>
              </a:rPr>
              <a:t>CORE WORKFLOW</a:t>
            </a:r>
            <a:endParaRPr lang="en-US" sz="1200" dirty="0"/>
          </a:p>
        </p:txBody>
      </p:sp>
      <p:sp>
        <p:nvSpPr>
          <p:cNvPr id="7" name="Text 5"/>
          <p:cNvSpPr/>
          <p:nvPr/>
        </p:nvSpPr>
        <p:spPr>
          <a:xfrm>
            <a:off x="5852160" y="1947672"/>
            <a:ext cx="457200" cy="817474"/>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01</a:t>
            </a:r>
            <a:endParaRPr lang="en-US" sz="1600" dirty="0"/>
          </a:p>
        </p:txBody>
      </p:sp>
      <p:sp>
        <p:nvSpPr>
          <p:cNvPr id="8" name="Text 6"/>
          <p:cNvSpPr/>
          <p:nvPr/>
        </p:nvSpPr>
        <p:spPr>
          <a:xfrm>
            <a:off x="6355080" y="1947672"/>
            <a:ext cx="5285232" cy="817474"/>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Stamp the exact Git commit that is running (script 8)</a:t>
            </a:r>
            <a:endParaRPr lang="en-US" sz="1250" dirty="0"/>
          </a:p>
        </p:txBody>
      </p:sp>
      <p:sp>
        <p:nvSpPr>
          <p:cNvPr id="9" name="Text 7"/>
          <p:cNvSpPr/>
          <p:nvPr/>
        </p:nvSpPr>
        <p:spPr>
          <a:xfrm>
            <a:off x="5852160" y="2820010"/>
            <a:ext cx="457200" cy="817474"/>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02</a:t>
            </a:r>
            <a:endParaRPr lang="en-US" sz="1600" dirty="0"/>
          </a:p>
        </p:txBody>
      </p:sp>
      <p:sp>
        <p:nvSpPr>
          <p:cNvPr id="10" name="Text 8"/>
          <p:cNvSpPr/>
          <p:nvPr/>
        </p:nvSpPr>
        <p:spPr>
          <a:xfrm>
            <a:off x="6355080" y="2820010"/>
            <a:ext cx="5285232" cy="817474"/>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Record the software environment fingerprint (script 7)</a:t>
            </a:r>
            <a:endParaRPr lang="en-US" sz="1250" dirty="0"/>
          </a:p>
        </p:txBody>
      </p:sp>
      <p:sp>
        <p:nvSpPr>
          <p:cNvPr id="11" name="Text 9"/>
          <p:cNvSpPr/>
          <p:nvPr/>
        </p:nvSpPr>
        <p:spPr>
          <a:xfrm>
            <a:off x="5852160" y="3692347"/>
            <a:ext cx="457200" cy="817474"/>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03</a:t>
            </a:r>
            <a:endParaRPr lang="en-US" sz="1600" dirty="0"/>
          </a:p>
        </p:txBody>
      </p:sp>
      <p:sp>
        <p:nvSpPr>
          <p:cNvPr id="12" name="Text 10"/>
          <p:cNvSpPr/>
          <p:nvPr/>
        </p:nvSpPr>
        <p:spPr>
          <a:xfrm>
            <a:off x="6355080" y="3692347"/>
            <a:ext cx="5285232" cy="817474"/>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Run the storage-guarded, fault-tolerant download/QC/trim loop (scripts 2, 5)</a:t>
            </a:r>
            <a:endParaRPr lang="en-US" sz="1250" dirty="0"/>
          </a:p>
        </p:txBody>
      </p:sp>
      <p:sp>
        <p:nvSpPr>
          <p:cNvPr id="13" name="Text 11"/>
          <p:cNvSpPr/>
          <p:nvPr/>
        </p:nvSpPr>
        <p:spPr>
          <a:xfrm>
            <a:off x="5852160" y="4564685"/>
            <a:ext cx="457200" cy="817474"/>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04</a:t>
            </a:r>
            <a:endParaRPr lang="en-US" sz="1600" dirty="0"/>
          </a:p>
        </p:txBody>
      </p:sp>
      <p:sp>
        <p:nvSpPr>
          <p:cNvPr id="14" name="Text 12"/>
          <p:cNvSpPr/>
          <p:nvPr/>
        </p:nvSpPr>
        <p:spPr>
          <a:xfrm>
            <a:off x="6355080" y="4564685"/>
            <a:ext cx="5285232" cy="817474"/>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Validate the pipeline’s own OUTPUT files, not just trust them (script 9)</a:t>
            </a:r>
            <a:endParaRPr lang="en-US" sz="1250" dirty="0"/>
          </a:p>
        </p:txBody>
      </p:sp>
      <p:sp>
        <p:nvSpPr>
          <p:cNvPr id="15" name="Text 13"/>
          <p:cNvSpPr/>
          <p:nvPr/>
        </p:nvSpPr>
        <p:spPr>
          <a:xfrm>
            <a:off x="5852160" y="5437022"/>
            <a:ext cx="457200" cy="817474"/>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05</a:t>
            </a:r>
            <a:endParaRPr lang="en-US" sz="1600" dirty="0"/>
          </a:p>
        </p:txBody>
      </p:sp>
      <p:sp>
        <p:nvSpPr>
          <p:cNvPr id="16" name="Text 14"/>
          <p:cNvSpPr/>
          <p:nvPr/>
        </p:nvSpPr>
        <p:spPr>
          <a:xfrm>
            <a:off x="6355080" y="5437022"/>
            <a:ext cx="5285232" cy="817474"/>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Log real memory usage (script 6), then auto-generate REPRODUCIBILITY_REFLECTION.md</a:t>
            </a:r>
            <a:endParaRPr lang="en-US" sz="1250" dirty="0"/>
          </a:p>
        </p:txBody>
      </p:sp>
      <p:sp>
        <p:nvSpPr>
          <p:cNvPr id="17" name="Text 15"/>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Foundations &amp; Reproducibility Lecture</a:t>
            </a:r>
            <a:endParaRPr lang="en-US" sz="1000" dirty="0"/>
          </a:p>
        </p:txBody>
      </p:sp>
      <p:sp>
        <p:nvSpPr>
          <p:cNvPr id="18" name="Text 16"/>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SCRIPT 10</a:t>
            </a:r>
            <a:endParaRPr lang="en-US" sz="1200" dirty="0"/>
          </a:p>
        </p:txBody>
      </p:sp>
      <p:sp>
        <p:nvSpPr>
          <p:cNvPr id="3" name="Text 1"/>
          <p:cNvSpPr/>
          <p:nvPr/>
        </p:nvSpPr>
        <p:spPr>
          <a:xfrm>
            <a:off x="548640" y="749808"/>
            <a:ext cx="11091672" cy="54864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Nuances &amp; Pitfalls</a:t>
            </a:r>
            <a:endParaRPr lang="en-US" sz="2700" dirty="0"/>
          </a:p>
        </p:txBody>
      </p:sp>
      <p:sp>
        <p:nvSpPr>
          <p:cNvPr id="4" name="Shape 2"/>
          <p:cNvSpPr/>
          <p:nvPr/>
        </p:nvSpPr>
        <p:spPr>
          <a:xfrm>
            <a:off x="548640" y="1371600"/>
            <a:ext cx="11091672" cy="1469136"/>
          </a:xfrm>
          <a:prstGeom prst="rect">
            <a:avLst/>
          </a:prstGeom>
          <a:solidFill>
            <a:srgbClr val="FBFBF9"/>
          </a:solidFill>
          <a:ln w="9525">
            <a:solidFill>
              <a:srgbClr val="D4D1CA"/>
            </a:solidFill>
            <a:prstDash val="solid"/>
          </a:ln>
        </p:spPr>
      </p:sp>
      <p:sp>
        <p:nvSpPr>
          <p:cNvPr id="5" name="Text 3"/>
          <p:cNvSpPr/>
          <p:nvPr/>
        </p:nvSpPr>
        <p:spPr>
          <a:xfrm>
            <a:off x="804672" y="1371600"/>
            <a:ext cx="10579608" cy="146913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Skipping any one piece leaves a real gap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No commit stamp, no environment record, no format check, or no memory log each quietly breaks the "repeatable, portable, auditable" guiding question this whole module is built around — there is no piece here that is optional in practice.</a:t>
            </a:r>
            <a:endParaRPr lang="en-US" sz="1350" dirty="0"/>
          </a:p>
        </p:txBody>
      </p:sp>
      <p:sp>
        <p:nvSpPr>
          <p:cNvPr id="6" name="Shape 4"/>
          <p:cNvSpPr/>
          <p:nvPr/>
        </p:nvSpPr>
        <p:spPr>
          <a:xfrm>
            <a:off x="548640" y="3023616"/>
            <a:ext cx="11091672" cy="1469136"/>
          </a:xfrm>
          <a:prstGeom prst="rect">
            <a:avLst/>
          </a:prstGeom>
          <a:solidFill>
            <a:srgbClr val="FBFBF9"/>
          </a:solidFill>
          <a:ln w="9525">
            <a:solidFill>
              <a:srgbClr val="D4D1CA"/>
            </a:solidFill>
            <a:prstDash val="solid"/>
          </a:ln>
        </p:spPr>
      </p:sp>
      <p:sp>
        <p:nvSpPr>
          <p:cNvPr id="7" name="Text 5"/>
          <p:cNvSpPr/>
          <p:nvPr/>
        </p:nvSpPr>
        <p:spPr>
          <a:xfrm>
            <a:off x="804672" y="3023616"/>
            <a:ext cx="10579608" cy="146913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Auto-recorded facts are only as trustworthy as their source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If script 8’s commit was made with uncommitted changes still present, the reflection’s "Code version" line is misleading, not wrong — always check the git_dirty flag before trusting a logged commit hash.</a:t>
            </a:r>
            <a:endParaRPr lang="en-US" sz="1350" dirty="0"/>
          </a:p>
        </p:txBody>
      </p:sp>
      <p:sp>
        <p:nvSpPr>
          <p:cNvPr id="8" name="Shape 6"/>
          <p:cNvSpPr/>
          <p:nvPr/>
        </p:nvSpPr>
        <p:spPr>
          <a:xfrm>
            <a:off x="548640" y="4675632"/>
            <a:ext cx="11091672" cy="1469136"/>
          </a:xfrm>
          <a:prstGeom prst="rect">
            <a:avLst/>
          </a:prstGeom>
          <a:solidFill>
            <a:srgbClr val="FBFBF9"/>
          </a:solidFill>
          <a:ln w="9525">
            <a:solidFill>
              <a:srgbClr val="D4D1CA"/>
            </a:solidFill>
            <a:prstDash val="solid"/>
          </a:ln>
        </p:spPr>
      </p:sp>
      <p:sp>
        <p:nvSpPr>
          <p:cNvPr id="9" name="Text 7"/>
          <p:cNvSpPr/>
          <p:nvPr/>
        </p:nvSpPr>
        <p:spPr>
          <a:xfrm>
            <a:off x="804672" y="4675632"/>
            <a:ext cx="10579608" cy="146913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The reflection template is a starting point, not a finished answer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The script auto-fills every fact it can measure (commit hash, environment presence, samples processed) — but the genuinely reflective questions (what breaks for a labmate starting from zero, data licensing/privacy) still require a human answer.</a:t>
            </a:r>
            <a:endParaRPr lang="en-US" sz="1350" dirty="0"/>
          </a:p>
        </p:txBody>
      </p:sp>
      <p:sp>
        <p:nvSpPr>
          <p:cNvPr id="10" name="Text 8"/>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Foundations &amp; Reproducibility Lecture</a:t>
            </a:r>
            <a:endParaRPr lang="en-US" sz="1000" dirty="0"/>
          </a:p>
        </p:txBody>
      </p:sp>
      <p:sp>
        <p:nvSpPr>
          <p:cNvPr id="11" name="Text 9"/>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11091672" cy="54864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All Four Pieces, Side by Side</a:t>
            </a:r>
            <a:endParaRPr lang="en-US" sz="27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1672" cy="5120640"/>
        </p:xfrm>
        <a:graphic>
          <a:graphicData uri="http://schemas.openxmlformats.org/drawingml/2006/table">
            <a:tbl>
              <a:tblPr/>
              <a:tblGrid>
                <a:gridCol w="2194560"/>
                <a:gridCol w="3017520"/>
                <a:gridCol w="2103120"/>
                <a:gridCol w="3776472"/>
              </a:tblGrid>
              <a:tr h="10241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Piece</a:t>
                      </a:r>
                      <a:endParaRPr lang="en-US" sz="120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Question it answers</a:t>
                      </a:r>
                      <a:endParaRPr lang="en-US" sz="120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Run as</a:t>
                      </a:r>
                      <a:endParaRPr lang="en-US" sz="120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does NOT protect against</a:t>
                      </a:r>
                      <a:endParaRPr lang="en-US" sz="120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tr>
              <a:tr h="1024128">
                <a:tc>
                  <a:txBody>
                    <a:bodyPr/>
                    <a:lstStyle/>
                    <a:p>
                      <a:pPr algn="l" indent="0" marL="0">
                        <a:buNone/>
                      </a:pPr>
                      <a:r>
                        <a:rPr lang="en-US" sz="1150" b="1" dirty="0">
                          <a:solidFill>
                            <a:srgbClr val="28251D"/>
                          </a:solidFill>
                          <a:latin typeface="Calibri" pitchFamily="34" charset="0"/>
                          <a:ea typeface="Calibri" pitchFamily="34" charset="-122"/>
                          <a:cs typeface="Calibri" pitchFamily="34" charset="-120"/>
                        </a:rPr>
                        <a:t>7. Environment</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Which tool versions ran?</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Interactive (login node)</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Whether the CODE calling those tools was also unchanged</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r>
              <a:tr h="1024128">
                <a:tc>
                  <a:txBody>
                    <a:bodyPr/>
                    <a:lstStyle/>
                    <a:p>
                      <a:pPr algn="l" indent="0" marL="0">
                        <a:buNone/>
                      </a:pPr>
                      <a:r>
                        <a:rPr lang="en-US" sz="1150" b="1" dirty="0">
                          <a:solidFill>
                            <a:srgbClr val="28251D"/>
                          </a:solidFill>
                          <a:latin typeface="Calibri" pitchFamily="34" charset="0"/>
                          <a:ea typeface="Calibri" pitchFamily="34" charset="-122"/>
                          <a:cs typeface="Calibri" pitchFamily="34" charset="-120"/>
                        </a:rPr>
                        <a:t>8. Git commit</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Which code version ran?</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Interactive (login node)</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Whether that exact commit was actually executed, not just committed</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r>
              <a:tr h="1024128">
                <a:tc>
                  <a:txBody>
                    <a:bodyPr/>
                    <a:lstStyle/>
                    <a:p>
                      <a:pPr algn="l" indent="0" marL="0">
                        <a:buNone/>
                      </a:pPr>
                      <a:r>
                        <a:rPr lang="en-US" sz="1150" b="1" dirty="0">
                          <a:solidFill>
                            <a:srgbClr val="28251D"/>
                          </a:solidFill>
                          <a:latin typeface="Calibri" pitchFamily="34" charset="0"/>
                          <a:ea typeface="Calibri" pitchFamily="34" charset="-122"/>
                          <a:cs typeface="Calibri" pitchFamily="34" charset="-120"/>
                        </a:rPr>
                        <a:t>9. Format check</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Is the data structurally valid?</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Interactive (login node)</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Whether the data is biologically correct, not just well-formed</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r>
              <a:tr h="1024128">
                <a:tc>
                  <a:txBody>
                    <a:bodyPr/>
                    <a:lstStyle/>
                    <a:p>
                      <a:pPr algn="l" indent="0" marL="0">
                        <a:buNone/>
                      </a:pPr>
                      <a:r>
                        <a:rPr lang="en-US" sz="1150" b="1" dirty="0">
                          <a:solidFill>
                            <a:srgbClr val="28251D"/>
                          </a:solidFill>
                          <a:latin typeface="Calibri" pitchFamily="34" charset="0"/>
                          <a:ea typeface="Calibri" pitchFamily="34" charset="-122"/>
                          <a:cs typeface="Calibri" pitchFamily="34" charset="-120"/>
                        </a:rPr>
                        <a:t>10. Integrated run</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Did all of the above happen together, on this run?</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Batch (sbatch)</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The genuinely reflective questions — those still need a human answer</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r>
            </a:tbl>
          </a:graphicData>
        </a:graphic>
      </p:graphicFrame>
      <p:sp>
        <p:nvSpPr>
          <p:cNvPr id="4" name="Text 1"/>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Foundations &amp; Reproducibility Lecture</a:t>
            </a:r>
            <a:endParaRPr lang="en-US" sz="1000" dirty="0"/>
          </a:p>
        </p:txBody>
      </p:sp>
      <p:sp>
        <p:nvSpPr>
          <p:cNvPr id="5" name="Text 2"/>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WHERE THIS LEADS</a:t>
            </a:r>
            <a:endParaRPr lang="en-US" sz="1200" dirty="0"/>
          </a:p>
        </p:txBody>
      </p:sp>
      <p:sp>
        <p:nvSpPr>
          <p:cNvPr id="3" name="Text 1"/>
          <p:cNvSpPr/>
          <p:nvPr/>
        </p:nvSpPr>
        <p:spPr>
          <a:xfrm>
            <a:off x="548640" y="749808"/>
            <a:ext cx="11091672" cy="54864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The Reflection Is the Point, Not the Byproduct</a:t>
            </a:r>
            <a:endParaRPr lang="en-US" sz="2700" dirty="0"/>
          </a:p>
        </p:txBody>
      </p:sp>
      <p:sp>
        <p:nvSpPr>
          <p:cNvPr id="4" name="Text 2"/>
          <p:cNvSpPr/>
          <p:nvPr/>
        </p:nvSpPr>
        <p:spPr>
          <a:xfrm>
            <a:off x="548640" y="1298448"/>
            <a:ext cx="11091672" cy="411480"/>
          </a:xfrm>
          <a:prstGeom prst="rect">
            <a:avLst/>
          </a:prstGeom>
          <a:noFill/>
          <a:ln/>
        </p:spPr>
        <p:txBody>
          <a:bodyPr wrap="square" lIns="0" tIns="0" rIns="0" bIns="0" rtlCol="0" anchor="ctr"/>
          <a:lstStyle/>
          <a:p>
            <a:pPr indent="0" marL="0">
              <a:buNone/>
            </a:pPr>
            <a:r>
              <a:rPr lang="en-US" sz="1350" i="1" dirty="0">
                <a:solidFill>
                  <a:srgbClr val="7A7974"/>
                </a:solidFill>
                <a:latin typeface="Calibri" pitchFamily="34" charset="0"/>
                <a:ea typeface="Calibri" pitchFamily="34" charset="-122"/>
                <a:cs typeface="Calibri" pitchFamily="34" charset="-120"/>
              </a:rPr>
              <a:t>Every capstone pipeline later in this course (AMR, RNA-seq, SNP calling, microbiome) already assumes the habits from this lecture and the Storage-Safety lecture are second nature — this module is where they become explicit, one at a time, before the biology gets complicated.</a:t>
            </a:r>
            <a:endParaRPr lang="en-US" sz="1350" dirty="0"/>
          </a:p>
        </p:txBody>
      </p:sp>
      <p:sp>
        <p:nvSpPr>
          <p:cNvPr id="5" name="Shape 3"/>
          <p:cNvSpPr/>
          <p:nvPr/>
        </p:nvSpPr>
        <p:spPr>
          <a:xfrm>
            <a:off x="548640" y="1828800"/>
            <a:ext cx="11091672" cy="1286256"/>
          </a:xfrm>
          <a:prstGeom prst="rect">
            <a:avLst/>
          </a:prstGeom>
          <a:solidFill>
            <a:srgbClr val="FBFBF9"/>
          </a:solidFill>
          <a:ln w="9525">
            <a:solidFill>
              <a:srgbClr val="D4D1CA"/>
            </a:solidFill>
            <a:prstDash val="solid"/>
          </a:ln>
        </p:spPr>
      </p:sp>
      <p:sp>
        <p:nvSpPr>
          <p:cNvPr id="6" name="Text 4"/>
          <p:cNvSpPr/>
          <p:nvPr/>
        </p:nvSpPr>
        <p:spPr>
          <a:xfrm>
            <a:off x="804672" y="1828800"/>
            <a:ext cx="10579608" cy="128625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Environment + Git together answer "what produced this?"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Every result you report later in this course should be traceable to a specific environment.yml and a specific commit hash — the two questions script 7 and 8 exist to answer, together.</a:t>
            </a:r>
            <a:endParaRPr lang="en-US" sz="1350" dirty="0"/>
          </a:p>
        </p:txBody>
      </p:sp>
      <p:sp>
        <p:nvSpPr>
          <p:cNvPr id="7" name="Shape 5"/>
          <p:cNvSpPr/>
          <p:nvPr/>
        </p:nvSpPr>
        <p:spPr>
          <a:xfrm>
            <a:off x="548640" y="3343656"/>
            <a:ext cx="11091672" cy="1286256"/>
          </a:xfrm>
          <a:prstGeom prst="rect">
            <a:avLst/>
          </a:prstGeom>
          <a:solidFill>
            <a:srgbClr val="FBFBF9"/>
          </a:solidFill>
          <a:ln w="9525">
            <a:solidFill>
              <a:srgbClr val="D4D1CA"/>
            </a:solidFill>
            <a:prstDash val="solid"/>
          </a:ln>
        </p:spPr>
      </p:sp>
      <p:sp>
        <p:nvSpPr>
          <p:cNvPr id="8" name="Text 6"/>
          <p:cNvSpPr/>
          <p:nvPr/>
        </p:nvSpPr>
        <p:spPr>
          <a:xfrm>
            <a:off x="804672" y="3343656"/>
            <a:ext cx="10579608" cy="128625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Format validation belongs at every pipeline boundary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Not just at the start: check inputs before trusting them, and outputs before handing them to the next tool — the same discipline script 9 applies here will reappear as an explicit step in every capstone pipeline.</a:t>
            </a:r>
            <a:endParaRPr lang="en-US" sz="1350" dirty="0"/>
          </a:p>
        </p:txBody>
      </p:sp>
      <p:sp>
        <p:nvSpPr>
          <p:cNvPr id="9" name="Shape 7"/>
          <p:cNvSpPr/>
          <p:nvPr/>
        </p:nvSpPr>
        <p:spPr>
          <a:xfrm>
            <a:off x="548640" y="4858512"/>
            <a:ext cx="11091672" cy="1286256"/>
          </a:xfrm>
          <a:prstGeom prst="rect">
            <a:avLst/>
          </a:prstGeom>
          <a:solidFill>
            <a:srgbClr val="FBFBF9"/>
          </a:solidFill>
          <a:ln w="9525">
            <a:solidFill>
              <a:srgbClr val="D4D1CA"/>
            </a:solidFill>
            <a:prstDash val="solid"/>
          </a:ln>
        </p:spPr>
      </p:sp>
      <p:sp>
        <p:nvSpPr>
          <p:cNvPr id="10" name="Text 8"/>
          <p:cNvSpPr/>
          <p:nvPr/>
        </p:nvSpPr>
        <p:spPr>
          <a:xfrm>
            <a:off x="804672" y="4858512"/>
            <a:ext cx="10579608" cy="128625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A reproducibility reflection is a habit, not a one-time assignment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The four hand-written questions in REPRODUCIBILITY_REFLECTION.md — what breaks for a newcomer, what depends on unrecorded defaults, data licensing, and which artifact you’d point to first — are worth re-asking at the end of every capstone pipeline you build.</a:t>
            </a:r>
            <a:endParaRPr lang="en-US" sz="1350" dirty="0"/>
          </a:p>
        </p:txBody>
      </p:sp>
      <p:sp>
        <p:nvSpPr>
          <p:cNvPr id="11" name="Text 9"/>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Foundations &amp; Reproducibility Lecture</a:t>
            </a:r>
            <a:endParaRPr lang="en-US" sz="1000" dirty="0"/>
          </a:p>
        </p:txBody>
      </p:sp>
      <p:sp>
        <p:nvSpPr>
          <p:cNvPr id="12" name="Text 10"/>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71614"/>
        </a:solidFill>
      </p:bgPr>
    </p:bg>
    <p:spTree>
      <p:nvGrpSpPr>
        <p:cNvPr id="1" name=""/>
        <p:cNvGrpSpPr/>
        <p:nvPr/>
      </p:nvGrpSpPr>
      <p:grpSpPr>
        <a:xfrm>
          <a:off x="0" y="0"/>
          <a:ext cx="0" cy="0"/>
          <a:chOff x="0" y="0"/>
          <a:chExt cx="0" cy="0"/>
        </a:xfrm>
      </p:grpSpPr>
      <p:sp>
        <p:nvSpPr>
          <p:cNvPr id="2" name="Text 0"/>
          <p:cNvSpPr/>
          <p:nvPr/>
        </p:nvSpPr>
        <p:spPr>
          <a:xfrm>
            <a:off x="548640" y="822960"/>
            <a:ext cx="7315200" cy="365760"/>
          </a:xfrm>
          <a:prstGeom prst="rect">
            <a:avLst/>
          </a:prstGeom>
          <a:noFill/>
          <a:ln/>
        </p:spPr>
        <p:txBody>
          <a:bodyPr wrap="square" lIns="0" tIns="0" rIns="0" bIns="0" rtlCol="0" anchor="ctr"/>
          <a:lstStyle/>
          <a:p>
            <a:pPr indent="0" marL="0">
              <a:buNone/>
            </a:pPr>
            <a:r>
              <a:rPr lang="en-US" sz="1300" spc="200" kern="0" dirty="0">
                <a:solidFill>
                  <a:srgbClr val="4F98A3"/>
                </a:solidFill>
                <a:latin typeface="Calibri" pitchFamily="34" charset="0"/>
                <a:ea typeface="Calibri" pitchFamily="34" charset="-122"/>
                <a:cs typeface="Calibri" pitchFamily="34" charset="-120"/>
              </a:rPr>
              <a:t>DISCUSSION</a:t>
            </a:r>
            <a:endParaRPr lang="en-US" sz="1300" dirty="0"/>
          </a:p>
        </p:txBody>
      </p:sp>
      <p:sp>
        <p:nvSpPr>
          <p:cNvPr id="3" name="Text 1"/>
          <p:cNvSpPr/>
          <p:nvPr/>
        </p:nvSpPr>
        <p:spPr>
          <a:xfrm>
            <a:off x="548640" y="1234440"/>
            <a:ext cx="11091672" cy="731520"/>
          </a:xfrm>
          <a:prstGeom prst="rect">
            <a:avLst/>
          </a:prstGeom>
          <a:noFill/>
          <a:ln/>
        </p:spPr>
        <p:txBody>
          <a:bodyPr wrap="square" lIns="0" tIns="0" rIns="0" bIns="0" rtlCol="0" anchor="ctr"/>
          <a:lstStyle/>
          <a:p>
            <a:pPr indent="0" marL="0">
              <a:buNone/>
            </a:pPr>
            <a:r>
              <a:rPr lang="en-US" sz="3200" b="1" dirty="0">
                <a:solidFill>
                  <a:srgbClr val="CDCCCA"/>
                </a:solidFill>
                <a:latin typeface="Trebuchet MS" pitchFamily="34" charset="0"/>
                <a:ea typeface="Trebuchet MS" pitchFamily="34" charset="-122"/>
                <a:cs typeface="Trebuchet MS" pitchFamily="34" charset="-120"/>
              </a:rPr>
              <a:t>Questions to Take Into the Lab</a:t>
            </a:r>
            <a:endParaRPr lang="en-US" sz="3200" dirty="0"/>
          </a:p>
        </p:txBody>
      </p:sp>
      <p:sp>
        <p:nvSpPr>
          <p:cNvPr id="4" name="Text 2"/>
          <p:cNvSpPr/>
          <p:nvPr/>
        </p:nvSpPr>
        <p:spPr>
          <a:xfrm>
            <a:off x="548640" y="2331720"/>
            <a:ext cx="457200" cy="777240"/>
          </a:xfrm>
          <a:prstGeom prst="rect">
            <a:avLst/>
          </a:prstGeom>
          <a:noFill/>
          <a:ln/>
        </p:spPr>
        <p:txBody>
          <a:bodyPr wrap="square" lIns="0" tIns="0" rIns="0" bIns="0" rtlCol="0" anchor="t"/>
          <a:lstStyle/>
          <a:p>
            <a:pPr indent="0" marL="0">
              <a:buNone/>
            </a:pPr>
            <a:r>
              <a:rPr lang="en-US" sz="2000" b="1" dirty="0">
                <a:solidFill>
                  <a:srgbClr val="4F98A3"/>
                </a:solidFill>
                <a:latin typeface="Trebuchet MS" pitchFamily="34" charset="0"/>
                <a:ea typeface="Trebuchet MS" pitchFamily="34" charset="-122"/>
                <a:cs typeface="Trebuchet MS" pitchFamily="34" charset="-120"/>
              </a:rPr>
              <a:t>1</a:t>
            </a:r>
            <a:endParaRPr lang="en-US" sz="2000" dirty="0"/>
          </a:p>
        </p:txBody>
      </p:sp>
      <p:sp>
        <p:nvSpPr>
          <p:cNvPr id="5" name="Text 3"/>
          <p:cNvSpPr/>
          <p:nvPr/>
        </p:nvSpPr>
        <p:spPr>
          <a:xfrm>
            <a:off x="1051560" y="2331720"/>
            <a:ext cx="10588752" cy="777240"/>
          </a:xfrm>
          <a:prstGeom prst="rect">
            <a:avLst/>
          </a:prstGeom>
          <a:noFill/>
          <a:ln/>
        </p:spPr>
        <p:txBody>
          <a:bodyPr wrap="square" lIns="0" tIns="0" rIns="0" bIns="0" rtlCol="0" anchor="t"/>
          <a:lstStyle/>
          <a:p>
            <a:pPr indent="0" marL="0">
              <a:lnSpc>
                <a:spcPct val="125000"/>
              </a:lnSpc>
              <a:buNone/>
            </a:pPr>
            <a:r>
              <a:rPr lang="en-US" sz="1450" dirty="0">
                <a:solidFill>
                  <a:srgbClr val="CDCCCA"/>
                </a:solidFill>
                <a:latin typeface="Calibri" pitchFamily="34" charset="0"/>
                <a:ea typeface="Calibri" pitchFamily="34" charset="-122"/>
                <a:cs typeface="Calibri" pitchFamily="34" charset="-120"/>
              </a:rPr>
              <a:t>If you inherited this repository with no environment.yml, how would you even start figuring out which tool versions the original results depended on?</a:t>
            </a:r>
            <a:endParaRPr lang="en-US" sz="1450" dirty="0"/>
          </a:p>
        </p:txBody>
      </p:sp>
      <p:sp>
        <p:nvSpPr>
          <p:cNvPr id="6" name="Text 4"/>
          <p:cNvSpPr/>
          <p:nvPr/>
        </p:nvSpPr>
        <p:spPr>
          <a:xfrm>
            <a:off x="548640" y="3227832"/>
            <a:ext cx="457200" cy="777240"/>
          </a:xfrm>
          <a:prstGeom prst="rect">
            <a:avLst/>
          </a:prstGeom>
          <a:noFill/>
          <a:ln/>
        </p:spPr>
        <p:txBody>
          <a:bodyPr wrap="square" lIns="0" tIns="0" rIns="0" bIns="0" rtlCol="0" anchor="t"/>
          <a:lstStyle/>
          <a:p>
            <a:pPr indent="0" marL="0">
              <a:buNone/>
            </a:pPr>
            <a:r>
              <a:rPr lang="en-US" sz="2000" b="1" dirty="0">
                <a:solidFill>
                  <a:srgbClr val="4F98A3"/>
                </a:solidFill>
                <a:latin typeface="Trebuchet MS" pitchFamily="34" charset="0"/>
                <a:ea typeface="Trebuchet MS" pitchFamily="34" charset="-122"/>
                <a:cs typeface="Trebuchet MS" pitchFamily="34" charset="-120"/>
              </a:rPr>
              <a:t>2</a:t>
            </a:r>
            <a:endParaRPr lang="en-US" sz="2000" dirty="0"/>
          </a:p>
        </p:txBody>
      </p:sp>
      <p:sp>
        <p:nvSpPr>
          <p:cNvPr id="7" name="Text 5"/>
          <p:cNvSpPr/>
          <p:nvPr/>
        </p:nvSpPr>
        <p:spPr>
          <a:xfrm>
            <a:off x="1051560" y="3227832"/>
            <a:ext cx="10588752" cy="777240"/>
          </a:xfrm>
          <a:prstGeom prst="rect">
            <a:avLst/>
          </a:prstGeom>
          <a:noFill/>
          <a:ln/>
        </p:spPr>
        <p:txBody>
          <a:bodyPr wrap="square" lIns="0" tIns="0" rIns="0" bIns="0" rtlCol="0" anchor="t"/>
          <a:lstStyle/>
          <a:p>
            <a:pPr indent="0" marL="0">
              <a:lnSpc>
                <a:spcPct val="125000"/>
              </a:lnSpc>
              <a:buNone/>
            </a:pPr>
            <a:r>
              <a:rPr lang="en-US" sz="1450" dirty="0">
                <a:solidFill>
                  <a:srgbClr val="CDCCCA"/>
                </a:solidFill>
                <a:latin typeface="Calibri" pitchFamily="34" charset="0"/>
                <a:ea typeface="Calibri" pitchFamily="34" charset="-122"/>
                <a:cs typeface="Calibri" pitchFamily="34" charset="-120"/>
              </a:rPr>
              <a:t>Why does git add -A . combined with a good .gitignore work better here than listing specific file extensions to stage?</a:t>
            </a:r>
            <a:endParaRPr lang="en-US" sz="1450" dirty="0"/>
          </a:p>
        </p:txBody>
      </p:sp>
      <p:sp>
        <p:nvSpPr>
          <p:cNvPr id="8" name="Text 6"/>
          <p:cNvSpPr/>
          <p:nvPr/>
        </p:nvSpPr>
        <p:spPr>
          <a:xfrm>
            <a:off x="548640" y="4123944"/>
            <a:ext cx="457200" cy="777240"/>
          </a:xfrm>
          <a:prstGeom prst="rect">
            <a:avLst/>
          </a:prstGeom>
          <a:noFill/>
          <a:ln/>
        </p:spPr>
        <p:txBody>
          <a:bodyPr wrap="square" lIns="0" tIns="0" rIns="0" bIns="0" rtlCol="0" anchor="t"/>
          <a:lstStyle/>
          <a:p>
            <a:pPr indent="0" marL="0">
              <a:buNone/>
            </a:pPr>
            <a:r>
              <a:rPr lang="en-US" sz="2000" b="1" dirty="0">
                <a:solidFill>
                  <a:srgbClr val="4F98A3"/>
                </a:solidFill>
                <a:latin typeface="Trebuchet MS" pitchFamily="34" charset="0"/>
                <a:ea typeface="Trebuchet MS" pitchFamily="34" charset="-122"/>
                <a:cs typeface="Trebuchet MS" pitchFamily="34" charset="-120"/>
              </a:rPr>
              <a:t>3</a:t>
            </a:r>
            <a:endParaRPr lang="en-US" sz="2000" dirty="0"/>
          </a:p>
        </p:txBody>
      </p:sp>
      <p:sp>
        <p:nvSpPr>
          <p:cNvPr id="9" name="Text 7"/>
          <p:cNvSpPr/>
          <p:nvPr/>
        </p:nvSpPr>
        <p:spPr>
          <a:xfrm>
            <a:off x="1051560" y="4123944"/>
            <a:ext cx="10588752" cy="777240"/>
          </a:xfrm>
          <a:prstGeom prst="rect">
            <a:avLst/>
          </a:prstGeom>
          <a:noFill/>
          <a:ln/>
        </p:spPr>
        <p:txBody>
          <a:bodyPr wrap="square" lIns="0" tIns="0" rIns="0" bIns="0" rtlCol="0" anchor="t"/>
          <a:lstStyle/>
          <a:p>
            <a:pPr indent="0" marL="0">
              <a:lnSpc>
                <a:spcPct val="125000"/>
              </a:lnSpc>
              <a:buNone/>
            </a:pPr>
            <a:r>
              <a:rPr lang="en-US" sz="1450" dirty="0">
                <a:solidFill>
                  <a:srgbClr val="CDCCCA"/>
                </a:solidFill>
                <a:latin typeface="Calibri" pitchFamily="34" charset="0"/>
                <a:ea typeface="Calibri" pitchFamily="34" charset="-122"/>
                <a:cs typeface="Calibri" pitchFamily="34" charset="-120"/>
              </a:rPr>
              <a:t>A file passes every check in 9_File_Format_Validation.sh. What is one way it could still be scientifically wrong despite passing every structural check?</a:t>
            </a:r>
            <a:endParaRPr lang="en-US" sz="1450" dirty="0"/>
          </a:p>
        </p:txBody>
      </p:sp>
      <p:sp>
        <p:nvSpPr>
          <p:cNvPr id="10" name="Text 8"/>
          <p:cNvSpPr/>
          <p:nvPr/>
        </p:nvSpPr>
        <p:spPr>
          <a:xfrm>
            <a:off x="548640" y="5020056"/>
            <a:ext cx="457200" cy="777240"/>
          </a:xfrm>
          <a:prstGeom prst="rect">
            <a:avLst/>
          </a:prstGeom>
          <a:noFill/>
          <a:ln/>
        </p:spPr>
        <p:txBody>
          <a:bodyPr wrap="square" lIns="0" tIns="0" rIns="0" bIns="0" rtlCol="0" anchor="t"/>
          <a:lstStyle/>
          <a:p>
            <a:pPr indent="0" marL="0">
              <a:buNone/>
            </a:pPr>
            <a:r>
              <a:rPr lang="en-US" sz="2000" b="1" dirty="0">
                <a:solidFill>
                  <a:srgbClr val="4F98A3"/>
                </a:solidFill>
                <a:latin typeface="Trebuchet MS" pitchFamily="34" charset="0"/>
                <a:ea typeface="Trebuchet MS" pitchFamily="34" charset="-122"/>
                <a:cs typeface="Trebuchet MS" pitchFamily="34" charset="-120"/>
              </a:rPr>
              <a:t>4</a:t>
            </a:r>
            <a:endParaRPr lang="en-US" sz="2000" dirty="0"/>
          </a:p>
        </p:txBody>
      </p:sp>
      <p:sp>
        <p:nvSpPr>
          <p:cNvPr id="11" name="Text 9"/>
          <p:cNvSpPr/>
          <p:nvPr/>
        </p:nvSpPr>
        <p:spPr>
          <a:xfrm>
            <a:off x="1051560" y="5020056"/>
            <a:ext cx="10588752" cy="777240"/>
          </a:xfrm>
          <a:prstGeom prst="rect">
            <a:avLst/>
          </a:prstGeom>
          <a:noFill/>
          <a:ln/>
        </p:spPr>
        <p:txBody>
          <a:bodyPr wrap="square" lIns="0" tIns="0" rIns="0" bIns="0" rtlCol="0" anchor="t"/>
          <a:lstStyle/>
          <a:p>
            <a:pPr indent="0" marL="0">
              <a:lnSpc>
                <a:spcPct val="125000"/>
              </a:lnSpc>
              <a:buNone/>
            </a:pPr>
            <a:r>
              <a:rPr lang="en-US" sz="1450" dirty="0">
                <a:solidFill>
                  <a:srgbClr val="CDCCCA"/>
                </a:solidFill>
                <a:latin typeface="Calibri" pitchFamily="34" charset="0"/>
                <a:ea typeface="Calibri" pitchFamily="34" charset="-122"/>
                <a:cs typeface="Calibri" pitchFamily="34" charset="-120"/>
              </a:rPr>
              <a:t>Pick one piece from this lecture (environment, Git, format validation) and describe a specific way skipping it could have produced a wrong conclusion in a capstone pipeline you have not built yet.</a:t>
            </a:r>
            <a:endParaRPr lang="en-US" sz="1450" dirty="0"/>
          </a:p>
        </p:txBody>
      </p:sp>
      <p:sp>
        <p:nvSpPr>
          <p:cNvPr id="12" name="Text 10"/>
          <p:cNvSpPr/>
          <p:nvPr/>
        </p:nvSpPr>
        <p:spPr>
          <a:xfrm>
            <a:off x="548640" y="5916168"/>
            <a:ext cx="457200" cy="777240"/>
          </a:xfrm>
          <a:prstGeom prst="rect">
            <a:avLst/>
          </a:prstGeom>
          <a:noFill/>
          <a:ln/>
        </p:spPr>
        <p:txBody>
          <a:bodyPr wrap="square" lIns="0" tIns="0" rIns="0" bIns="0" rtlCol="0" anchor="t"/>
          <a:lstStyle/>
          <a:p>
            <a:pPr indent="0" marL="0">
              <a:buNone/>
            </a:pPr>
            <a:r>
              <a:rPr lang="en-US" sz="2000" b="1" dirty="0">
                <a:solidFill>
                  <a:srgbClr val="4F98A3"/>
                </a:solidFill>
                <a:latin typeface="Trebuchet MS" pitchFamily="34" charset="0"/>
                <a:ea typeface="Trebuchet MS" pitchFamily="34" charset="-122"/>
                <a:cs typeface="Trebuchet MS" pitchFamily="34" charset="-120"/>
              </a:rPr>
              <a:t>5</a:t>
            </a:r>
            <a:endParaRPr lang="en-US" sz="2000" dirty="0"/>
          </a:p>
        </p:txBody>
      </p:sp>
      <p:sp>
        <p:nvSpPr>
          <p:cNvPr id="13" name="Text 11"/>
          <p:cNvSpPr/>
          <p:nvPr/>
        </p:nvSpPr>
        <p:spPr>
          <a:xfrm>
            <a:off x="1051560" y="5916168"/>
            <a:ext cx="10588752" cy="777240"/>
          </a:xfrm>
          <a:prstGeom prst="rect">
            <a:avLst/>
          </a:prstGeom>
          <a:noFill/>
          <a:ln/>
        </p:spPr>
        <p:txBody>
          <a:bodyPr wrap="square" lIns="0" tIns="0" rIns="0" bIns="0" rtlCol="0" anchor="t"/>
          <a:lstStyle/>
          <a:p>
            <a:pPr indent="0" marL="0">
              <a:lnSpc>
                <a:spcPct val="125000"/>
              </a:lnSpc>
              <a:buNone/>
            </a:pPr>
            <a:r>
              <a:rPr lang="en-US" sz="1450" dirty="0">
                <a:solidFill>
                  <a:srgbClr val="CDCCCA"/>
                </a:solidFill>
                <a:latin typeface="Calibri" pitchFamily="34" charset="0"/>
                <a:ea typeface="Calibri" pitchFamily="34" charset="-122"/>
                <a:cs typeface="Calibri" pitchFamily="34" charset="-120"/>
              </a:rPr>
              <a:t>Open a REPRODUCIBILITY_REFLECTION.md from a real run: which of its four hand-written questions is hardest to answer honestly, and why?</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2026-09-02T12:34:09Z</dcterms:created>
  <dcterms:modified xsi:type="dcterms:W3CDTF">2026-09-02T12:34:09Z</dcterms:modified>
</cp:coreProperties>
</file>